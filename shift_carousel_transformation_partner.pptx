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11430000"/>
  <p:notesSz cx="11430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685800" y="676656"/>
            <a:ext cx="109728" cy="109728"/>
          </a:xfrm>
          <a:prstGeom prst="ellipse">
            <a:avLst/>
          </a:prstGeom>
          <a:solidFill>
            <a:srgbClr val="E89F71"/>
          </a:solidFill>
          <a:ln w="12700">
            <a:solidFill>
              <a:srgbClr val="E89F71"/>
            </a:solidFill>
            <a:prstDash val="solid"/>
          </a:ln>
        </p:spPr>
      </p:sp>
      <p:sp>
        <p:nvSpPr>
          <p:cNvPr id="3" name="Text 1"/>
          <p:cNvSpPr/>
          <p:nvPr/>
        </p:nvSpPr>
        <p:spPr>
          <a:xfrm>
            <a:off x="941832" y="566928"/>
            <a:ext cx="5486400" cy="320040"/>
          </a:xfrm>
          <a:prstGeom prst="rect">
            <a:avLst/>
          </a:prstGeom>
          <a:noFill/>
          <a:ln/>
        </p:spPr>
        <p:txBody>
          <a:bodyPr wrap="square" lIns="0" tIns="0" rIns="0" bIns="0" rtlCol="0" anchor="ctr"/>
          <a:lstStyle/>
          <a:p>
            <a:pPr indent="0" marL="0">
              <a:buNone/>
            </a:pPr>
            <a:r>
              <a:rPr lang="en-US" sz="1100" b="1" spc="800" kern="0" dirty="0">
                <a:solidFill>
                  <a:srgbClr val="E89F71"/>
                </a:solidFill>
                <a:latin typeface="Calibri" pitchFamily="34" charset="0"/>
                <a:ea typeface="Calibri" pitchFamily="34" charset="-122"/>
                <a:cs typeface="Calibri" pitchFamily="34" charset="-120"/>
              </a:rPr>
              <a:t>A NOTE ON STAYING POWER</a:t>
            </a:r>
            <a:endParaRPr lang="en-US" sz="1100" dirty="0"/>
          </a:p>
        </p:txBody>
      </p:sp>
      <p:sp>
        <p:nvSpPr>
          <p:cNvPr id="4" name="Text 2"/>
          <p:cNvSpPr/>
          <p:nvPr/>
        </p:nvSpPr>
        <p:spPr>
          <a:xfrm>
            <a:off x="6629400" y="566928"/>
            <a:ext cx="1828800" cy="320040"/>
          </a:xfrm>
          <a:prstGeom prst="rect">
            <a:avLst/>
          </a:prstGeom>
          <a:noFill/>
          <a:ln/>
        </p:spPr>
        <p:txBody>
          <a:bodyPr wrap="square" lIns="0" tIns="0" rIns="0" bIns="0" rtlCol="0" anchor="ctr"/>
          <a:lstStyle/>
          <a:p>
            <a:pPr algn="r" indent="0" marL="0">
              <a:buNone/>
            </a:pPr>
            <a:r>
              <a:rPr lang="en-US" sz="1100" spc="400" kern="0" dirty="0">
                <a:solidFill>
                  <a:srgbClr val="8A95A8"/>
                </a:solidFill>
                <a:latin typeface="Calibri" pitchFamily="34" charset="0"/>
                <a:ea typeface="Calibri" pitchFamily="34" charset="-122"/>
                <a:cs typeface="Calibri" pitchFamily="34" charset="-120"/>
              </a:rPr>
              <a:t>01 / 08</a:t>
            </a:r>
            <a:endParaRPr lang="en-US" sz="1100" dirty="0"/>
          </a:p>
        </p:txBody>
      </p:sp>
      <p:sp>
        <p:nvSpPr>
          <p:cNvPr id="5" name="Shape 3"/>
          <p:cNvSpPr/>
          <p:nvPr/>
        </p:nvSpPr>
        <p:spPr>
          <a:xfrm>
            <a:off x="685800" y="1024128"/>
            <a:ext cx="7772400" cy="10973"/>
          </a:xfrm>
          <a:prstGeom prst="rect">
            <a:avLst/>
          </a:prstGeom>
          <a:solidFill>
            <a:srgbClr val="2E3445"/>
          </a:solidFill>
          <a:ln w="12700">
            <a:solidFill>
              <a:srgbClr val="2E3445"/>
            </a:solidFill>
            <a:prstDash val="solid"/>
          </a:ln>
        </p:spPr>
      </p:sp>
      <p:sp>
        <p:nvSpPr>
          <p:cNvPr id="6" name="Shape 4"/>
          <p:cNvSpPr/>
          <p:nvPr/>
        </p:nvSpPr>
        <p:spPr>
          <a:xfrm>
            <a:off x="685800" y="2377440"/>
            <a:ext cx="548640" cy="36576"/>
          </a:xfrm>
          <a:prstGeom prst="rect">
            <a:avLst/>
          </a:prstGeom>
          <a:solidFill>
            <a:srgbClr val="E89F71"/>
          </a:solidFill>
          <a:ln w="12700">
            <a:solidFill>
              <a:srgbClr val="E89F71"/>
            </a:solidFill>
            <a:prstDash val="solid"/>
          </a:ln>
        </p:spPr>
      </p:sp>
      <p:sp>
        <p:nvSpPr>
          <p:cNvPr id="7" name="Text 5"/>
          <p:cNvSpPr/>
          <p:nvPr/>
        </p:nvSpPr>
        <p:spPr>
          <a:xfrm>
            <a:off x="685800" y="2606040"/>
            <a:ext cx="7772400" cy="2377440"/>
          </a:xfrm>
          <a:prstGeom prst="rect">
            <a:avLst/>
          </a:prstGeom>
          <a:noFill/>
          <a:ln/>
        </p:spPr>
        <p:txBody>
          <a:bodyPr wrap="square" rtlCol="0" anchor="t"/>
          <a:lstStyle/>
          <a:p>
            <a:pPr algn="l" indent="0" marL="0">
              <a:lnSpc>
                <a:spcPct val="112000"/>
              </a:lnSpc>
              <a:buNone/>
            </a:pPr>
            <a:r>
              <a:rPr lang="en-US" sz="4000" dirty="0">
                <a:solidFill>
                  <a:srgbClr val="FFFFFF"/>
                </a:solidFill>
                <a:latin typeface="Georgia" pitchFamily="34" charset="0"/>
                <a:ea typeface="Georgia" pitchFamily="34" charset="-122"/>
                <a:cs typeface="Georgia" pitchFamily="34" charset="-120"/>
              </a:rPr>
              <a:t>Your transformation partner should still be in the room</a:t>
            </a:r>
            <a:endParaRPr lang="en-US" sz="4000" dirty="0"/>
          </a:p>
        </p:txBody>
      </p:sp>
      <p:sp>
        <p:nvSpPr>
          <p:cNvPr id="8" name="Text 6"/>
          <p:cNvSpPr/>
          <p:nvPr/>
        </p:nvSpPr>
        <p:spPr>
          <a:xfrm>
            <a:off x="685800" y="4937760"/>
            <a:ext cx="7772400" cy="914400"/>
          </a:xfrm>
          <a:prstGeom prst="rect">
            <a:avLst/>
          </a:prstGeom>
          <a:noFill/>
          <a:ln/>
        </p:spPr>
        <p:txBody>
          <a:bodyPr wrap="square" rtlCol="0" anchor="t"/>
          <a:lstStyle/>
          <a:p>
            <a:pPr algn="l" indent="0" marL="0">
              <a:lnSpc>
                <a:spcPct val="112000"/>
              </a:lnSpc>
              <a:buNone/>
            </a:pPr>
            <a:r>
              <a:rPr lang="en-US" sz="4000" i="1" dirty="0">
                <a:solidFill>
                  <a:srgbClr val="E89F71"/>
                </a:solidFill>
                <a:latin typeface="Georgia" pitchFamily="34" charset="0"/>
                <a:ea typeface="Georgia" pitchFamily="34" charset="-122"/>
                <a:cs typeface="Georgia" pitchFamily="34" charset="-120"/>
              </a:rPr>
              <a:t>when it gets hard.</a:t>
            </a:r>
            <a:endParaRPr lang="en-US" sz="4000" dirty="0"/>
          </a:p>
        </p:txBody>
      </p:sp>
      <p:sp>
        <p:nvSpPr>
          <p:cNvPr id="9" name="Text 7"/>
          <p:cNvSpPr/>
          <p:nvPr/>
        </p:nvSpPr>
        <p:spPr>
          <a:xfrm>
            <a:off x="685800" y="6583680"/>
            <a:ext cx="7772400" cy="1463040"/>
          </a:xfrm>
          <a:prstGeom prst="rect">
            <a:avLst/>
          </a:prstGeom>
          <a:noFill/>
          <a:ln/>
        </p:spPr>
        <p:txBody>
          <a:bodyPr wrap="square" rtlCol="0" anchor="t"/>
          <a:lstStyle/>
          <a:p>
            <a:pPr algn="l" indent="0" marL="0">
              <a:lnSpc>
                <a:spcPct val="140000"/>
              </a:lnSpc>
              <a:buNone/>
            </a:pPr>
            <a:r>
              <a:rPr lang="en-US" sz="1700" dirty="0">
                <a:solidFill>
                  <a:srgbClr val="E8E4DA"/>
                </a:solidFill>
                <a:latin typeface="Calibri" pitchFamily="34" charset="0"/>
                <a:ea typeface="Calibri" pitchFamily="34" charset="-122"/>
                <a:cs typeface="Calibri" pitchFamily="34" charset="-120"/>
              </a:rPr>
              <a:t>Most transformation programs don't fail at the strategy phase. They fail at the implementation one.</a:t>
            </a:r>
            <a:endParaRPr lang="en-US" sz="1700" dirty="0"/>
          </a:p>
        </p:txBody>
      </p:sp>
      <p:sp>
        <p:nvSpPr>
          <p:cNvPr id="10" name="Shape 8"/>
          <p:cNvSpPr/>
          <p:nvPr/>
        </p:nvSpPr>
        <p:spPr>
          <a:xfrm>
            <a:off x="685800" y="9692640"/>
            <a:ext cx="36576" cy="914400"/>
          </a:xfrm>
          <a:prstGeom prst="rect">
            <a:avLst/>
          </a:prstGeom>
          <a:solidFill>
            <a:srgbClr val="E89F71"/>
          </a:solidFill>
          <a:ln w="12700">
            <a:solidFill>
              <a:srgbClr val="E89F71"/>
            </a:solidFill>
            <a:prstDash val="solid"/>
          </a:ln>
        </p:spPr>
      </p:sp>
      <p:sp>
        <p:nvSpPr>
          <p:cNvPr id="11" name="Text 9"/>
          <p:cNvSpPr/>
          <p:nvPr/>
        </p:nvSpPr>
        <p:spPr>
          <a:xfrm>
            <a:off x="914400" y="9692640"/>
            <a:ext cx="5486400" cy="320040"/>
          </a:xfrm>
          <a:prstGeom prst="rect">
            <a:avLst/>
          </a:prstGeom>
          <a:noFill/>
          <a:ln/>
        </p:spPr>
        <p:txBody>
          <a:bodyPr wrap="square" lIns="0" tIns="0" rIns="0" bIns="0" rtlCol="0" anchor="ctr"/>
          <a:lstStyle/>
          <a:p>
            <a:pPr indent="0" marL="0">
              <a:buNone/>
            </a:pPr>
            <a:r>
              <a:rPr lang="en-US" sz="1100" b="1" spc="600" kern="0" dirty="0">
                <a:solidFill>
                  <a:srgbClr val="FFFFFF"/>
                </a:solidFill>
                <a:latin typeface="Calibri" pitchFamily="34" charset="0"/>
                <a:ea typeface="Calibri" pitchFamily="34" charset="-122"/>
                <a:cs typeface="Calibri" pitchFamily="34" charset="-120"/>
              </a:rPr>
              <a:t>CATA BONAVIA</a:t>
            </a:r>
            <a:endParaRPr lang="en-US" sz="1100" dirty="0"/>
          </a:p>
        </p:txBody>
      </p:sp>
      <p:sp>
        <p:nvSpPr>
          <p:cNvPr id="12" name="Text 10"/>
          <p:cNvSpPr/>
          <p:nvPr/>
        </p:nvSpPr>
        <p:spPr>
          <a:xfrm>
            <a:off x="914400" y="10012680"/>
            <a:ext cx="5486400" cy="274320"/>
          </a:xfrm>
          <a:prstGeom prst="rect">
            <a:avLst/>
          </a:prstGeom>
          <a:noFill/>
          <a:ln/>
        </p:spPr>
        <p:txBody>
          <a:bodyPr wrap="square" lIns="0" tIns="0" rIns="0" bIns="0" rtlCol="0" anchor="ctr"/>
          <a:lstStyle/>
          <a:p>
            <a:pPr indent="0" marL="0">
              <a:buNone/>
            </a:pPr>
            <a:r>
              <a:rPr lang="en-US" sz="1100" dirty="0">
                <a:solidFill>
                  <a:srgbClr val="8A95A8"/>
                </a:solidFill>
                <a:latin typeface="Calibri" pitchFamily="34" charset="0"/>
                <a:ea typeface="Calibri" pitchFamily="34" charset="-122"/>
                <a:cs typeface="Calibri" pitchFamily="34" charset="-120"/>
              </a:rPr>
              <a:t>Service designer  ·  transformation partner</a:t>
            </a:r>
            <a:endParaRPr lang="en-US" sz="1100" dirty="0"/>
          </a:p>
        </p:txBody>
      </p:sp>
      <p:sp>
        <p:nvSpPr>
          <p:cNvPr id="13" name="Text 11"/>
          <p:cNvSpPr/>
          <p:nvPr/>
        </p:nvSpPr>
        <p:spPr>
          <a:xfrm>
            <a:off x="914400" y="10314432"/>
            <a:ext cx="5486400" cy="274320"/>
          </a:xfrm>
          <a:prstGeom prst="rect">
            <a:avLst/>
          </a:prstGeom>
          <a:noFill/>
          <a:ln/>
        </p:spPr>
        <p:txBody>
          <a:bodyPr wrap="square" lIns="0" tIns="0" rIns="0" bIns="0" rtlCol="0" anchor="ctr"/>
          <a:lstStyle/>
          <a:p>
            <a:pPr indent="0" marL="0">
              <a:buNone/>
            </a:pPr>
            <a:r>
              <a:rPr lang="en-US" sz="1100" i="1" dirty="0">
                <a:solidFill>
                  <a:srgbClr val="E8E4DA"/>
                </a:solidFill>
                <a:latin typeface="Calibri" pitchFamily="34" charset="0"/>
                <a:ea typeface="Calibri" pitchFamily="34" charset="-122"/>
                <a:cs typeface="Calibri" pitchFamily="34" charset="-120"/>
              </a:rPr>
              <a:t>shiftwithpurpose.com.au</a:t>
            </a:r>
            <a:endParaRPr lang="en-US" sz="1100" dirty="0"/>
          </a:p>
        </p:txBody>
      </p:sp>
      <p:sp>
        <p:nvSpPr>
          <p:cNvPr id="14" name="Text 12"/>
          <p:cNvSpPr/>
          <p:nvPr/>
        </p:nvSpPr>
        <p:spPr>
          <a:xfrm>
            <a:off x="6629400" y="10314432"/>
            <a:ext cx="1828800" cy="274320"/>
          </a:xfrm>
          <a:prstGeom prst="rect">
            <a:avLst/>
          </a:prstGeom>
          <a:noFill/>
          <a:ln/>
        </p:spPr>
        <p:txBody>
          <a:bodyPr wrap="square" lIns="0" tIns="0" rIns="0" bIns="0" rtlCol="0" anchor="ctr"/>
          <a:lstStyle/>
          <a:p>
            <a:pPr algn="r" indent="0" marL="0">
              <a:buNone/>
            </a:pPr>
            <a:r>
              <a:rPr lang="en-US" sz="1100" b="1" spc="600" kern="0" dirty="0">
                <a:solidFill>
                  <a:srgbClr val="E89F71"/>
                </a:solidFill>
                <a:latin typeface="Calibri" pitchFamily="34" charset="0"/>
                <a:ea typeface="Calibri" pitchFamily="34" charset="-122"/>
                <a:cs typeface="Calibri" pitchFamily="34" charset="-120"/>
              </a:rPr>
              <a:t>SWIPE  →</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685800" y="676656"/>
            <a:ext cx="109728" cy="109728"/>
          </a:xfrm>
          <a:prstGeom prst="ellipse">
            <a:avLst/>
          </a:prstGeom>
          <a:solidFill>
            <a:srgbClr val="E89F71"/>
          </a:solidFill>
          <a:ln w="12700">
            <a:solidFill>
              <a:srgbClr val="E89F71"/>
            </a:solidFill>
            <a:prstDash val="solid"/>
          </a:ln>
        </p:spPr>
      </p:sp>
      <p:sp>
        <p:nvSpPr>
          <p:cNvPr id="3" name="Text 1"/>
          <p:cNvSpPr/>
          <p:nvPr/>
        </p:nvSpPr>
        <p:spPr>
          <a:xfrm>
            <a:off x="941832" y="566928"/>
            <a:ext cx="5486400" cy="320040"/>
          </a:xfrm>
          <a:prstGeom prst="rect">
            <a:avLst/>
          </a:prstGeom>
          <a:noFill/>
          <a:ln/>
        </p:spPr>
        <p:txBody>
          <a:bodyPr wrap="square" lIns="0" tIns="0" rIns="0" bIns="0" rtlCol="0" anchor="ctr"/>
          <a:lstStyle/>
          <a:p>
            <a:pPr indent="0" marL="0">
              <a:buNone/>
            </a:pPr>
            <a:r>
              <a:rPr lang="en-US" sz="1100" b="1" spc="800" kern="0" dirty="0">
                <a:solidFill>
                  <a:srgbClr val="E89F71"/>
                </a:solidFill>
                <a:latin typeface="Calibri" pitchFamily="34" charset="0"/>
                <a:ea typeface="Calibri" pitchFamily="34" charset="-122"/>
                <a:cs typeface="Calibri" pitchFamily="34" charset="-120"/>
              </a:rPr>
              <a:t>THE EASY PART</a:t>
            </a:r>
            <a:endParaRPr lang="en-US" sz="1100" dirty="0"/>
          </a:p>
        </p:txBody>
      </p:sp>
      <p:sp>
        <p:nvSpPr>
          <p:cNvPr id="4" name="Text 2"/>
          <p:cNvSpPr/>
          <p:nvPr/>
        </p:nvSpPr>
        <p:spPr>
          <a:xfrm>
            <a:off x="6629400" y="566928"/>
            <a:ext cx="1828800" cy="320040"/>
          </a:xfrm>
          <a:prstGeom prst="rect">
            <a:avLst/>
          </a:prstGeom>
          <a:noFill/>
          <a:ln/>
        </p:spPr>
        <p:txBody>
          <a:bodyPr wrap="square" lIns="0" tIns="0" rIns="0" bIns="0" rtlCol="0" anchor="ctr"/>
          <a:lstStyle/>
          <a:p>
            <a:pPr algn="r" indent="0" marL="0">
              <a:buNone/>
            </a:pPr>
            <a:r>
              <a:rPr lang="en-US" sz="1100" spc="400" kern="0" dirty="0">
                <a:solidFill>
                  <a:srgbClr val="8A95A8"/>
                </a:solidFill>
                <a:latin typeface="Calibri" pitchFamily="34" charset="0"/>
                <a:ea typeface="Calibri" pitchFamily="34" charset="-122"/>
                <a:cs typeface="Calibri" pitchFamily="34" charset="-120"/>
              </a:rPr>
              <a:t>02 / 08</a:t>
            </a:r>
            <a:endParaRPr lang="en-US" sz="1100" dirty="0"/>
          </a:p>
        </p:txBody>
      </p:sp>
      <p:sp>
        <p:nvSpPr>
          <p:cNvPr id="5" name="Shape 3"/>
          <p:cNvSpPr/>
          <p:nvPr/>
        </p:nvSpPr>
        <p:spPr>
          <a:xfrm>
            <a:off x="685800" y="1024128"/>
            <a:ext cx="7772400" cy="10973"/>
          </a:xfrm>
          <a:prstGeom prst="rect">
            <a:avLst/>
          </a:prstGeom>
          <a:solidFill>
            <a:srgbClr val="2E3445"/>
          </a:solidFill>
          <a:ln w="12700">
            <a:solidFill>
              <a:srgbClr val="2E3445"/>
            </a:solidFill>
            <a:prstDash val="solid"/>
          </a:ln>
        </p:spPr>
      </p:sp>
      <p:sp>
        <p:nvSpPr>
          <p:cNvPr id="6" name="Text 4"/>
          <p:cNvSpPr/>
          <p:nvPr/>
        </p:nvSpPr>
        <p:spPr>
          <a:xfrm>
            <a:off x="685800" y="10789920"/>
            <a:ext cx="3657600" cy="274320"/>
          </a:xfrm>
          <a:prstGeom prst="rect">
            <a:avLst/>
          </a:prstGeom>
          <a:noFill/>
          <a:ln/>
        </p:spPr>
        <p:txBody>
          <a:bodyPr wrap="square" lIns="0" tIns="0" rIns="0" bIns="0" rtlCol="0" anchor="ctr"/>
          <a:lstStyle/>
          <a:p>
            <a:pPr indent="0" marL="0">
              <a:buNone/>
            </a:pPr>
            <a:r>
              <a:rPr lang="en-US" sz="900" b="1" spc="800" kern="0" dirty="0">
                <a:solidFill>
                  <a:srgbClr val="8A95A8"/>
                </a:solidFill>
                <a:latin typeface="Calibri" pitchFamily="34" charset="0"/>
                <a:ea typeface="Calibri" pitchFamily="34" charset="-122"/>
                <a:cs typeface="Calibri" pitchFamily="34" charset="-120"/>
              </a:rPr>
              <a:t>SHIFT WITH PURPOSE</a:t>
            </a:r>
            <a:endParaRPr lang="en-US" sz="900" dirty="0"/>
          </a:p>
        </p:txBody>
      </p:sp>
      <p:sp>
        <p:nvSpPr>
          <p:cNvPr id="7" name="Text 5"/>
          <p:cNvSpPr/>
          <p:nvPr/>
        </p:nvSpPr>
        <p:spPr>
          <a:xfrm>
            <a:off x="4800600" y="10789920"/>
            <a:ext cx="3657600" cy="274320"/>
          </a:xfrm>
          <a:prstGeom prst="rect">
            <a:avLst/>
          </a:prstGeom>
          <a:noFill/>
          <a:ln/>
        </p:spPr>
        <p:txBody>
          <a:bodyPr wrap="square" lIns="0" tIns="0" rIns="0" bIns="0" rtlCol="0" anchor="ctr"/>
          <a:lstStyle/>
          <a:p>
            <a:pPr algn="r" indent="0" marL="0">
              <a:buNone/>
            </a:pPr>
            <a:r>
              <a:rPr lang="en-US" sz="900" spc="600" kern="0" dirty="0">
                <a:solidFill>
                  <a:srgbClr val="8A95A8"/>
                </a:solidFill>
                <a:latin typeface="Calibri" pitchFamily="34" charset="0"/>
                <a:ea typeface="Calibri" pitchFamily="34" charset="-122"/>
                <a:cs typeface="Calibri" pitchFamily="34" charset="-120"/>
              </a:rPr>
              <a:t>CATA BONAVIA</a:t>
            </a:r>
            <a:endParaRPr lang="en-US" sz="900" dirty="0"/>
          </a:p>
        </p:txBody>
      </p:sp>
      <p:sp>
        <p:nvSpPr>
          <p:cNvPr id="8" name="Shape 6"/>
          <p:cNvSpPr/>
          <p:nvPr/>
        </p:nvSpPr>
        <p:spPr>
          <a:xfrm>
            <a:off x="685800" y="10716768"/>
            <a:ext cx="7772400" cy="7315"/>
          </a:xfrm>
          <a:prstGeom prst="rect">
            <a:avLst/>
          </a:prstGeom>
          <a:solidFill>
            <a:srgbClr val="2E3445"/>
          </a:solidFill>
          <a:ln w="12700">
            <a:solidFill>
              <a:srgbClr val="2E3445"/>
            </a:solidFill>
            <a:prstDash val="solid"/>
          </a:ln>
        </p:spPr>
      </p:sp>
      <p:sp>
        <p:nvSpPr>
          <p:cNvPr id="9" name="Shape 7"/>
          <p:cNvSpPr/>
          <p:nvPr/>
        </p:nvSpPr>
        <p:spPr>
          <a:xfrm>
            <a:off x="685800" y="2743200"/>
            <a:ext cx="548640" cy="36576"/>
          </a:xfrm>
          <a:prstGeom prst="rect">
            <a:avLst/>
          </a:prstGeom>
          <a:solidFill>
            <a:srgbClr val="E89F71"/>
          </a:solidFill>
          <a:ln w="12700">
            <a:solidFill>
              <a:srgbClr val="E89F71"/>
            </a:solidFill>
            <a:prstDash val="solid"/>
          </a:ln>
        </p:spPr>
      </p:sp>
      <p:sp>
        <p:nvSpPr>
          <p:cNvPr id="10" name="Text 8"/>
          <p:cNvSpPr/>
          <p:nvPr/>
        </p:nvSpPr>
        <p:spPr>
          <a:xfrm>
            <a:off x="685800" y="2971800"/>
            <a:ext cx="7772400" cy="2011680"/>
          </a:xfrm>
          <a:prstGeom prst="rect">
            <a:avLst/>
          </a:prstGeom>
          <a:noFill/>
          <a:ln/>
        </p:spPr>
        <p:txBody>
          <a:bodyPr wrap="square" rtlCol="0" anchor="t"/>
          <a:lstStyle/>
          <a:p>
            <a:pPr algn="l" indent="0" marL="0">
              <a:lnSpc>
                <a:spcPct val="118000"/>
              </a:lnSpc>
              <a:buNone/>
            </a:pPr>
            <a:r>
              <a:rPr lang="en-US" sz="3400" dirty="0">
                <a:solidFill>
                  <a:srgbClr val="FFFFFF"/>
                </a:solidFill>
                <a:latin typeface="Georgia" pitchFamily="34" charset="0"/>
                <a:ea typeface="Georgia" pitchFamily="34" charset="-122"/>
                <a:cs typeface="Georgia" pitchFamily="34" charset="-120"/>
              </a:rPr>
              <a:t>The exciting part of transformation is easy to staff.</a:t>
            </a:r>
            <a:endParaRPr lang="en-US" sz="3400" dirty="0"/>
          </a:p>
        </p:txBody>
      </p:sp>
      <p:sp>
        <p:nvSpPr>
          <p:cNvPr id="11" name="Text 9"/>
          <p:cNvSpPr/>
          <p:nvPr/>
        </p:nvSpPr>
        <p:spPr>
          <a:xfrm>
            <a:off x="685800" y="5212080"/>
            <a:ext cx="7772400" cy="3657600"/>
          </a:xfrm>
          <a:prstGeom prst="rect">
            <a:avLst/>
          </a:prstGeom>
          <a:noFill/>
          <a:ln/>
        </p:spPr>
        <p:txBody>
          <a:bodyPr wrap="square" rtlCol="0" anchor="t"/>
          <a:lstStyle/>
          <a:p>
            <a:pPr algn="l" indent="0" marL="0">
              <a:lnSpc>
                <a:spcPct val="150000"/>
              </a:lnSpc>
              <a:buNone/>
            </a:pPr>
            <a:r>
              <a:rPr lang="en-US" sz="1700" dirty="0">
                <a:solidFill>
                  <a:srgbClr val="E8E4DA"/>
                </a:solidFill>
                <a:latin typeface="Calibri" pitchFamily="34" charset="0"/>
                <a:ea typeface="Calibri" pitchFamily="34" charset="-122"/>
                <a:cs typeface="Calibri" pitchFamily="34" charset="-120"/>
              </a:rPr>
              <a:t>Vision workshops, co-design sessions, strategy decks that leave everyone energised; there is no shortage of people who will show up while the future still feels possible.</a:t>
            </a:r>
            <a:endParaRPr lang="en-US" sz="1700" dirty="0"/>
          </a:p>
        </p:txBody>
      </p:sp>
      <p:sp>
        <p:nvSpPr>
          <p:cNvPr id="12" name="Text 10"/>
          <p:cNvSpPr/>
          <p:nvPr/>
        </p:nvSpPr>
        <p:spPr>
          <a:xfrm>
            <a:off x="6629400" y="10314432"/>
            <a:ext cx="1828800" cy="274320"/>
          </a:xfrm>
          <a:prstGeom prst="rect">
            <a:avLst/>
          </a:prstGeom>
          <a:noFill/>
          <a:ln/>
        </p:spPr>
        <p:txBody>
          <a:bodyPr wrap="square" lIns="0" tIns="0" rIns="0" bIns="0" rtlCol="0" anchor="ctr"/>
          <a:lstStyle/>
          <a:p>
            <a:pPr algn="r" indent="0" marL="0">
              <a:buNone/>
            </a:pPr>
            <a:r>
              <a:rPr lang="en-US" sz="1100" b="1" spc="600" kern="0" dirty="0">
                <a:solidFill>
                  <a:srgbClr val="E89F71"/>
                </a:solidFill>
                <a:latin typeface="Calibri" pitchFamily="34" charset="0"/>
                <a:ea typeface="Calibri" pitchFamily="34" charset="-122"/>
                <a:cs typeface="Calibri" pitchFamily="34" charset="-120"/>
              </a:rPr>
              <a:t>SWIPE  →</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685800" y="676656"/>
            <a:ext cx="109728" cy="109728"/>
          </a:xfrm>
          <a:prstGeom prst="ellipse">
            <a:avLst/>
          </a:prstGeom>
          <a:solidFill>
            <a:srgbClr val="E89F71"/>
          </a:solidFill>
          <a:ln w="12700">
            <a:solidFill>
              <a:srgbClr val="E89F71"/>
            </a:solidFill>
            <a:prstDash val="solid"/>
          </a:ln>
        </p:spPr>
      </p:sp>
      <p:sp>
        <p:nvSpPr>
          <p:cNvPr id="3" name="Text 1"/>
          <p:cNvSpPr/>
          <p:nvPr/>
        </p:nvSpPr>
        <p:spPr>
          <a:xfrm>
            <a:off x="941832" y="566928"/>
            <a:ext cx="5486400" cy="320040"/>
          </a:xfrm>
          <a:prstGeom prst="rect">
            <a:avLst/>
          </a:prstGeom>
          <a:noFill/>
          <a:ln/>
        </p:spPr>
        <p:txBody>
          <a:bodyPr wrap="square" lIns="0" tIns="0" rIns="0" bIns="0" rtlCol="0" anchor="ctr"/>
          <a:lstStyle/>
          <a:p>
            <a:pPr indent="0" marL="0">
              <a:buNone/>
            </a:pPr>
            <a:r>
              <a:rPr lang="en-US" sz="1100" b="1" spc="800" kern="0" dirty="0">
                <a:solidFill>
                  <a:srgbClr val="E89F71"/>
                </a:solidFill>
                <a:latin typeface="Calibri" pitchFamily="34" charset="0"/>
                <a:ea typeface="Calibri" pitchFamily="34" charset="-122"/>
                <a:cs typeface="Calibri" pitchFamily="34" charset="-120"/>
              </a:rPr>
              <a:t>WHERE IT BREAKS</a:t>
            </a:r>
            <a:endParaRPr lang="en-US" sz="1100" dirty="0"/>
          </a:p>
        </p:txBody>
      </p:sp>
      <p:sp>
        <p:nvSpPr>
          <p:cNvPr id="4" name="Text 2"/>
          <p:cNvSpPr/>
          <p:nvPr/>
        </p:nvSpPr>
        <p:spPr>
          <a:xfrm>
            <a:off x="6629400" y="566928"/>
            <a:ext cx="1828800" cy="320040"/>
          </a:xfrm>
          <a:prstGeom prst="rect">
            <a:avLst/>
          </a:prstGeom>
          <a:noFill/>
          <a:ln/>
        </p:spPr>
        <p:txBody>
          <a:bodyPr wrap="square" lIns="0" tIns="0" rIns="0" bIns="0" rtlCol="0" anchor="ctr"/>
          <a:lstStyle/>
          <a:p>
            <a:pPr algn="r" indent="0" marL="0">
              <a:buNone/>
            </a:pPr>
            <a:r>
              <a:rPr lang="en-US" sz="1100" spc="400" kern="0" dirty="0">
                <a:solidFill>
                  <a:srgbClr val="8A95A8"/>
                </a:solidFill>
                <a:latin typeface="Calibri" pitchFamily="34" charset="0"/>
                <a:ea typeface="Calibri" pitchFamily="34" charset="-122"/>
                <a:cs typeface="Calibri" pitchFamily="34" charset="-120"/>
              </a:rPr>
              <a:t>03 / 08</a:t>
            </a:r>
            <a:endParaRPr lang="en-US" sz="1100" dirty="0"/>
          </a:p>
        </p:txBody>
      </p:sp>
      <p:sp>
        <p:nvSpPr>
          <p:cNvPr id="5" name="Shape 3"/>
          <p:cNvSpPr/>
          <p:nvPr/>
        </p:nvSpPr>
        <p:spPr>
          <a:xfrm>
            <a:off x="685800" y="1024128"/>
            <a:ext cx="7772400" cy="10973"/>
          </a:xfrm>
          <a:prstGeom prst="rect">
            <a:avLst/>
          </a:prstGeom>
          <a:solidFill>
            <a:srgbClr val="2E3445"/>
          </a:solidFill>
          <a:ln w="12700">
            <a:solidFill>
              <a:srgbClr val="2E3445"/>
            </a:solidFill>
            <a:prstDash val="solid"/>
          </a:ln>
        </p:spPr>
      </p:sp>
      <p:sp>
        <p:nvSpPr>
          <p:cNvPr id="6" name="Text 4"/>
          <p:cNvSpPr/>
          <p:nvPr/>
        </p:nvSpPr>
        <p:spPr>
          <a:xfrm>
            <a:off x="685800" y="10789920"/>
            <a:ext cx="3657600" cy="274320"/>
          </a:xfrm>
          <a:prstGeom prst="rect">
            <a:avLst/>
          </a:prstGeom>
          <a:noFill/>
          <a:ln/>
        </p:spPr>
        <p:txBody>
          <a:bodyPr wrap="square" lIns="0" tIns="0" rIns="0" bIns="0" rtlCol="0" anchor="ctr"/>
          <a:lstStyle/>
          <a:p>
            <a:pPr indent="0" marL="0">
              <a:buNone/>
            </a:pPr>
            <a:r>
              <a:rPr lang="en-US" sz="900" b="1" spc="800" kern="0" dirty="0">
                <a:solidFill>
                  <a:srgbClr val="8A95A8"/>
                </a:solidFill>
                <a:latin typeface="Calibri" pitchFamily="34" charset="0"/>
                <a:ea typeface="Calibri" pitchFamily="34" charset="-122"/>
                <a:cs typeface="Calibri" pitchFamily="34" charset="-120"/>
              </a:rPr>
              <a:t>SHIFT WITH PURPOSE</a:t>
            </a:r>
            <a:endParaRPr lang="en-US" sz="900" dirty="0"/>
          </a:p>
        </p:txBody>
      </p:sp>
      <p:sp>
        <p:nvSpPr>
          <p:cNvPr id="7" name="Text 5"/>
          <p:cNvSpPr/>
          <p:nvPr/>
        </p:nvSpPr>
        <p:spPr>
          <a:xfrm>
            <a:off x="4800600" y="10789920"/>
            <a:ext cx="3657600" cy="274320"/>
          </a:xfrm>
          <a:prstGeom prst="rect">
            <a:avLst/>
          </a:prstGeom>
          <a:noFill/>
          <a:ln/>
        </p:spPr>
        <p:txBody>
          <a:bodyPr wrap="square" lIns="0" tIns="0" rIns="0" bIns="0" rtlCol="0" anchor="ctr"/>
          <a:lstStyle/>
          <a:p>
            <a:pPr algn="r" indent="0" marL="0">
              <a:buNone/>
            </a:pPr>
            <a:r>
              <a:rPr lang="en-US" sz="900" spc="600" kern="0" dirty="0">
                <a:solidFill>
                  <a:srgbClr val="8A95A8"/>
                </a:solidFill>
                <a:latin typeface="Calibri" pitchFamily="34" charset="0"/>
                <a:ea typeface="Calibri" pitchFamily="34" charset="-122"/>
                <a:cs typeface="Calibri" pitchFamily="34" charset="-120"/>
              </a:rPr>
              <a:t>CATA BONAVIA</a:t>
            </a:r>
            <a:endParaRPr lang="en-US" sz="900" dirty="0"/>
          </a:p>
        </p:txBody>
      </p:sp>
      <p:sp>
        <p:nvSpPr>
          <p:cNvPr id="8" name="Shape 6"/>
          <p:cNvSpPr/>
          <p:nvPr/>
        </p:nvSpPr>
        <p:spPr>
          <a:xfrm>
            <a:off x="685800" y="10716768"/>
            <a:ext cx="7772400" cy="7315"/>
          </a:xfrm>
          <a:prstGeom prst="rect">
            <a:avLst/>
          </a:prstGeom>
          <a:solidFill>
            <a:srgbClr val="2E3445"/>
          </a:solidFill>
          <a:ln w="12700">
            <a:solidFill>
              <a:srgbClr val="2E3445"/>
            </a:solidFill>
            <a:prstDash val="solid"/>
          </a:ln>
        </p:spPr>
      </p:sp>
      <p:sp>
        <p:nvSpPr>
          <p:cNvPr id="9" name="Shape 7"/>
          <p:cNvSpPr/>
          <p:nvPr/>
        </p:nvSpPr>
        <p:spPr>
          <a:xfrm>
            <a:off x="685800" y="2743200"/>
            <a:ext cx="548640" cy="36576"/>
          </a:xfrm>
          <a:prstGeom prst="rect">
            <a:avLst/>
          </a:prstGeom>
          <a:solidFill>
            <a:srgbClr val="E89F71"/>
          </a:solidFill>
          <a:ln w="12700">
            <a:solidFill>
              <a:srgbClr val="E89F71"/>
            </a:solidFill>
            <a:prstDash val="solid"/>
          </a:ln>
        </p:spPr>
      </p:sp>
      <p:sp>
        <p:nvSpPr>
          <p:cNvPr id="10" name="Text 8"/>
          <p:cNvSpPr/>
          <p:nvPr/>
        </p:nvSpPr>
        <p:spPr>
          <a:xfrm>
            <a:off x="685800" y="2971800"/>
            <a:ext cx="7772400" cy="2011680"/>
          </a:xfrm>
          <a:prstGeom prst="rect">
            <a:avLst/>
          </a:prstGeom>
          <a:noFill/>
          <a:ln/>
        </p:spPr>
        <p:txBody>
          <a:bodyPr wrap="square" rtlCol="0" anchor="t"/>
          <a:lstStyle/>
          <a:p>
            <a:pPr algn="l" indent="0" marL="0">
              <a:lnSpc>
                <a:spcPct val="118000"/>
              </a:lnSpc>
              <a:buNone/>
            </a:pPr>
            <a:r>
              <a:rPr lang="en-US" sz="3400" dirty="0">
                <a:solidFill>
                  <a:srgbClr val="FFFFFF"/>
                </a:solidFill>
                <a:latin typeface="Georgia" pitchFamily="34" charset="0"/>
                <a:ea typeface="Georgia" pitchFamily="34" charset="-122"/>
                <a:cs typeface="Georgia" pitchFamily="34" charset="-120"/>
              </a:rPr>
              <a:t>Transformation rarely fails at the strategy phase.</a:t>
            </a:r>
            <a:endParaRPr lang="en-US" sz="3400" dirty="0"/>
          </a:p>
        </p:txBody>
      </p:sp>
      <p:sp>
        <p:nvSpPr>
          <p:cNvPr id="11" name="Text 9"/>
          <p:cNvSpPr/>
          <p:nvPr/>
        </p:nvSpPr>
        <p:spPr>
          <a:xfrm>
            <a:off x="685800" y="5212080"/>
            <a:ext cx="7772400" cy="3657600"/>
          </a:xfrm>
          <a:prstGeom prst="rect">
            <a:avLst/>
          </a:prstGeom>
          <a:noFill/>
          <a:ln/>
        </p:spPr>
        <p:txBody>
          <a:bodyPr wrap="square" rtlCol="0" anchor="t"/>
          <a:lstStyle/>
          <a:p>
            <a:pPr algn="l" indent="0" marL="0">
              <a:lnSpc>
                <a:spcPct val="150000"/>
              </a:lnSpc>
              <a:buNone/>
            </a:pPr>
            <a:r>
              <a:rPr lang="en-US" sz="1700" dirty="0">
                <a:solidFill>
                  <a:srgbClr val="E8E4DA"/>
                </a:solidFill>
                <a:latin typeface="Calibri" pitchFamily="34" charset="0"/>
                <a:ea typeface="Calibri" pitchFamily="34" charset="-122"/>
                <a:cs typeface="Calibri" pitchFamily="34" charset="-120"/>
              </a:rPr>
              <a:t>It fails in the distance between the whiteboard and Tuesday morning; the messy, unglamorous, deeply human work of making something actually land inside a real organisation.</a:t>
            </a:r>
            <a:endParaRPr lang="en-US" sz="1700" dirty="0"/>
          </a:p>
        </p:txBody>
      </p:sp>
      <p:sp>
        <p:nvSpPr>
          <p:cNvPr id="12" name="Text 10"/>
          <p:cNvSpPr/>
          <p:nvPr/>
        </p:nvSpPr>
        <p:spPr>
          <a:xfrm>
            <a:off x="6629400" y="10314432"/>
            <a:ext cx="1828800" cy="274320"/>
          </a:xfrm>
          <a:prstGeom prst="rect">
            <a:avLst/>
          </a:prstGeom>
          <a:noFill/>
          <a:ln/>
        </p:spPr>
        <p:txBody>
          <a:bodyPr wrap="square" lIns="0" tIns="0" rIns="0" bIns="0" rtlCol="0" anchor="ctr"/>
          <a:lstStyle/>
          <a:p>
            <a:pPr algn="r" indent="0" marL="0">
              <a:buNone/>
            </a:pPr>
            <a:r>
              <a:rPr lang="en-US" sz="1100" b="1" spc="600" kern="0" dirty="0">
                <a:solidFill>
                  <a:srgbClr val="E89F71"/>
                </a:solidFill>
                <a:latin typeface="Calibri" pitchFamily="34" charset="0"/>
                <a:ea typeface="Calibri" pitchFamily="34" charset="-122"/>
                <a:cs typeface="Calibri" pitchFamily="34" charset="-120"/>
              </a:rPr>
              <a:t>SWIPE  →</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685800" y="676656"/>
            <a:ext cx="109728" cy="109728"/>
          </a:xfrm>
          <a:prstGeom prst="ellipse">
            <a:avLst/>
          </a:prstGeom>
          <a:solidFill>
            <a:srgbClr val="E89F71"/>
          </a:solidFill>
          <a:ln w="12700">
            <a:solidFill>
              <a:srgbClr val="E89F71"/>
            </a:solidFill>
            <a:prstDash val="solid"/>
          </a:ln>
        </p:spPr>
      </p:sp>
      <p:sp>
        <p:nvSpPr>
          <p:cNvPr id="3" name="Text 1"/>
          <p:cNvSpPr/>
          <p:nvPr/>
        </p:nvSpPr>
        <p:spPr>
          <a:xfrm>
            <a:off x="941832" y="566928"/>
            <a:ext cx="5486400" cy="320040"/>
          </a:xfrm>
          <a:prstGeom prst="rect">
            <a:avLst/>
          </a:prstGeom>
          <a:noFill/>
          <a:ln/>
        </p:spPr>
        <p:txBody>
          <a:bodyPr wrap="square" lIns="0" tIns="0" rIns="0" bIns="0" rtlCol="0" anchor="ctr"/>
          <a:lstStyle/>
          <a:p>
            <a:pPr indent="0" marL="0">
              <a:buNone/>
            </a:pPr>
            <a:r>
              <a:rPr lang="en-US" sz="1100" b="1" spc="800" kern="0" dirty="0">
                <a:solidFill>
                  <a:srgbClr val="E89F71"/>
                </a:solidFill>
                <a:latin typeface="Calibri" pitchFamily="34" charset="0"/>
                <a:ea typeface="Calibri" pitchFamily="34" charset="-122"/>
                <a:cs typeface="Calibri" pitchFamily="34" charset="-120"/>
              </a:rPr>
              <a:t>MY APPROACH</a:t>
            </a:r>
            <a:endParaRPr lang="en-US" sz="1100" dirty="0"/>
          </a:p>
        </p:txBody>
      </p:sp>
      <p:sp>
        <p:nvSpPr>
          <p:cNvPr id="4" name="Text 2"/>
          <p:cNvSpPr/>
          <p:nvPr/>
        </p:nvSpPr>
        <p:spPr>
          <a:xfrm>
            <a:off x="6629400" y="566928"/>
            <a:ext cx="1828800" cy="320040"/>
          </a:xfrm>
          <a:prstGeom prst="rect">
            <a:avLst/>
          </a:prstGeom>
          <a:noFill/>
          <a:ln/>
        </p:spPr>
        <p:txBody>
          <a:bodyPr wrap="square" lIns="0" tIns="0" rIns="0" bIns="0" rtlCol="0" anchor="ctr"/>
          <a:lstStyle/>
          <a:p>
            <a:pPr algn="r" indent="0" marL="0">
              <a:buNone/>
            </a:pPr>
            <a:r>
              <a:rPr lang="en-US" sz="1100" spc="400" kern="0" dirty="0">
                <a:solidFill>
                  <a:srgbClr val="8A95A8"/>
                </a:solidFill>
                <a:latin typeface="Calibri" pitchFamily="34" charset="0"/>
                <a:ea typeface="Calibri" pitchFamily="34" charset="-122"/>
                <a:cs typeface="Calibri" pitchFamily="34" charset="-120"/>
              </a:rPr>
              <a:t>04 / 08</a:t>
            </a:r>
            <a:endParaRPr lang="en-US" sz="1100" dirty="0"/>
          </a:p>
        </p:txBody>
      </p:sp>
      <p:sp>
        <p:nvSpPr>
          <p:cNvPr id="5" name="Shape 3"/>
          <p:cNvSpPr/>
          <p:nvPr/>
        </p:nvSpPr>
        <p:spPr>
          <a:xfrm>
            <a:off x="685800" y="1024128"/>
            <a:ext cx="7772400" cy="10973"/>
          </a:xfrm>
          <a:prstGeom prst="rect">
            <a:avLst/>
          </a:prstGeom>
          <a:solidFill>
            <a:srgbClr val="2E3445"/>
          </a:solidFill>
          <a:ln w="12700">
            <a:solidFill>
              <a:srgbClr val="2E3445"/>
            </a:solidFill>
            <a:prstDash val="solid"/>
          </a:ln>
        </p:spPr>
      </p:sp>
      <p:sp>
        <p:nvSpPr>
          <p:cNvPr id="6" name="Text 4"/>
          <p:cNvSpPr/>
          <p:nvPr/>
        </p:nvSpPr>
        <p:spPr>
          <a:xfrm>
            <a:off x="685800" y="10789920"/>
            <a:ext cx="3657600" cy="274320"/>
          </a:xfrm>
          <a:prstGeom prst="rect">
            <a:avLst/>
          </a:prstGeom>
          <a:noFill/>
          <a:ln/>
        </p:spPr>
        <p:txBody>
          <a:bodyPr wrap="square" lIns="0" tIns="0" rIns="0" bIns="0" rtlCol="0" anchor="ctr"/>
          <a:lstStyle/>
          <a:p>
            <a:pPr indent="0" marL="0">
              <a:buNone/>
            </a:pPr>
            <a:r>
              <a:rPr lang="en-US" sz="900" b="1" spc="800" kern="0" dirty="0">
                <a:solidFill>
                  <a:srgbClr val="8A95A8"/>
                </a:solidFill>
                <a:latin typeface="Calibri" pitchFamily="34" charset="0"/>
                <a:ea typeface="Calibri" pitchFamily="34" charset="-122"/>
                <a:cs typeface="Calibri" pitchFamily="34" charset="-120"/>
              </a:rPr>
              <a:t>SHIFT WITH PURPOSE</a:t>
            </a:r>
            <a:endParaRPr lang="en-US" sz="900" dirty="0"/>
          </a:p>
        </p:txBody>
      </p:sp>
      <p:sp>
        <p:nvSpPr>
          <p:cNvPr id="7" name="Text 5"/>
          <p:cNvSpPr/>
          <p:nvPr/>
        </p:nvSpPr>
        <p:spPr>
          <a:xfrm>
            <a:off x="4800600" y="10789920"/>
            <a:ext cx="3657600" cy="274320"/>
          </a:xfrm>
          <a:prstGeom prst="rect">
            <a:avLst/>
          </a:prstGeom>
          <a:noFill/>
          <a:ln/>
        </p:spPr>
        <p:txBody>
          <a:bodyPr wrap="square" lIns="0" tIns="0" rIns="0" bIns="0" rtlCol="0" anchor="ctr"/>
          <a:lstStyle/>
          <a:p>
            <a:pPr algn="r" indent="0" marL="0">
              <a:buNone/>
            </a:pPr>
            <a:r>
              <a:rPr lang="en-US" sz="900" spc="600" kern="0" dirty="0">
                <a:solidFill>
                  <a:srgbClr val="8A95A8"/>
                </a:solidFill>
                <a:latin typeface="Calibri" pitchFamily="34" charset="0"/>
                <a:ea typeface="Calibri" pitchFamily="34" charset="-122"/>
                <a:cs typeface="Calibri" pitchFamily="34" charset="-120"/>
              </a:rPr>
              <a:t>CATA BONAVIA</a:t>
            </a:r>
            <a:endParaRPr lang="en-US" sz="900" dirty="0"/>
          </a:p>
        </p:txBody>
      </p:sp>
      <p:sp>
        <p:nvSpPr>
          <p:cNvPr id="8" name="Shape 6"/>
          <p:cNvSpPr/>
          <p:nvPr/>
        </p:nvSpPr>
        <p:spPr>
          <a:xfrm>
            <a:off x="685800" y="10716768"/>
            <a:ext cx="7772400" cy="7315"/>
          </a:xfrm>
          <a:prstGeom prst="rect">
            <a:avLst/>
          </a:prstGeom>
          <a:solidFill>
            <a:srgbClr val="2E3445"/>
          </a:solidFill>
          <a:ln w="12700">
            <a:solidFill>
              <a:srgbClr val="2E3445"/>
            </a:solidFill>
            <a:prstDash val="solid"/>
          </a:ln>
        </p:spPr>
      </p:sp>
      <p:sp>
        <p:nvSpPr>
          <p:cNvPr id="9" name="Shape 7"/>
          <p:cNvSpPr/>
          <p:nvPr/>
        </p:nvSpPr>
        <p:spPr>
          <a:xfrm>
            <a:off x="685800" y="2743200"/>
            <a:ext cx="548640" cy="36576"/>
          </a:xfrm>
          <a:prstGeom prst="rect">
            <a:avLst/>
          </a:prstGeom>
          <a:solidFill>
            <a:srgbClr val="E89F71"/>
          </a:solidFill>
          <a:ln w="12700">
            <a:solidFill>
              <a:srgbClr val="E89F71"/>
            </a:solidFill>
            <a:prstDash val="solid"/>
          </a:ln>
        </p:spPr>
      </p:sp>
      <p:sp>
        <p:nvSpPr>
          <p:cNvPr id="10" name="Text 8"/>
          <p:cNvSpPr/>
          <p:nvPr/>
        </p:nvSpPr>
        <p:spPr>
          <a:xfrm>
            <a:off x="685800" y="2971800"/>
            <a:ext cx="7772400" cy="2011680"/>
          </a:xfrm>
          <a:prstGeom prst="rect">
            <a:avLst/>
          </a:prstGeom>
          <a:noFill/>
          <a:ln/>
        </p:spPr>
        <p:txBody>
          <a:bodyPr wrap="square" rtlCol="0" anchor="t"/>
          <a:lstStyle/>
          <a:p>
            <a:pPr algn="l" indent="0" marL="0">
              <a:lnSpc>
                <a:spcPct val="118000"/>
              </a:lnSpc>
              <a:buNone/>
            </a:pPr>
            <a:r>
              <a:rPr lang="en-US" sz="3400" dirty="0">
                <a:solidFill>
                  <a:srgbClr val="FFFFFF"/>
                </a:solidFill>
                <a:latin typeface="Georgia" pitchFamily="34" charset="0"/>
                <a:ea typeface="Georgia" pitchFamily="34" charset="-122"/>
                <a:cs typeface="Georgia" pitchFamily="34" charset="-120"/>
              </a:rPr>
              <a:t>I close that distance by staying inside it.</a:t>
            </a:r>
            <a:endParaRPr lang="en-US" sz="3400" dirty="0"/>
          </a:p>
        </p:txBody>
      </p:sp>
      <p:sp>
        <p:nvSpPr>
          <p:cNvPr id="11" name="Text 9"/>
          <p:cNvSpPr/>
          <p:nvPr/>
        </p:nvSpPr>
        <p:spPr>
          <a:xfrm>
            <a:off x="685800" y="5212080"/>
            <a:ext cx="7772400" cy="3657600"/>
          </a:xfrm>
          <a:prstGeom prst="rect">
            <a:avLst/>
          </a:prstGeom>
          <a:noFill/>
          <a:ln/>
        </p:spPr>
        <p:txBody>
          <a:bodyPr wrap="square" rtlCol="0" anchor="t"/>
          <a:lstStyle/>
          <a:p>
            <a:pPr algn="l" indent="0" marL="0">
              <a:lnSpc>
                <a:spcPct val="150000"/>
              </a:lnSpc>
              <a:buNone/>
            </a:pPr>
            <a:r>
              <a:rPr lang="en-US" sz="1700" dirty="0">
                <a:solidFill>
                  <a:srgbClr val="E8E4DA"/>
                </a:solidFill>
                <a:latin typeface="Calibri" pitchFamily="34" charset="0"/>
                <a:ea typeface="Calibri" pitchFamily="34" charset="-122"/>
                <a:cs typeface="Calibri" pitchFamily="34" charset="-120"/>
              </a:rPr>
              <a:t>Not handing over a document and wishing you well. Not disappearing once the kickoff energy fades. Six months in, when the pilot isn't behaving the way the plan said it would, I am still in the room asking what is actually getting in the way.</a:t>
            </a:r>
            <a:endParaRPr lang="en-US" sz="1700" dirty="0"/>
          </a:p>
        </p:txBody>
      </p:sp>
      <p:sp>
        <p:nvSpPr>
          <p:cNvPr id="12" name="Text 10"/>
          <p:cNvSpPr/>
          <p:nvPr/>
        </p:nvSpPr>
        <p:spPr>
          <a:xfrm>
            <a:off x="6629400" y="10314432"/>
            <a:ext cx="1828800" cy="274320"/>
          </a:xfrm>
          <a:prstGeom prst="rect">
            <a:avLst/>
          </a:prstGeom>
          <a:noFill/>
          <a:ln/>
        </p:spPr>
        <p:txBody>
          <a:bodyPr wrap="square" lIns="0" tIns="0" rIns="0" bIns="0" rtlCol="0" anchor="ctr"/>
          <a:lstStyle/>
          <a:p>
            <a:pPr algn="r" indent="0" marL="0">
              <a:buNone/>
            </a:pPr>
            <a:r>
              <a:rPr lang="en-US" sz="1100" b="1" spc="600" kern="0" dirty="0">
                <a:solidFill>
                  <a:srgbClr val="E89F71"/>
                </a:solidFill>
                <a:latin typeface="Calibri" pitchFamily="34" charset="0"/>
                <a:ea typeface="Calibri" pitchFamily="34" charset="-122"/>
                <a:cs typeface="Calibri" pitchFamily="34" charset="-120"/>
              </a:rPr>
              <a:t>SWIPE  →</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685800" y="676656"/>
            <a:ext cx="109728" cy="109728"/>
          </a:xfrm>
          <a:prstGeom prst="ellipse">
            <a:avLst/>
          </a:prstGeom>
          <a:solidFill>
            <a:srgbClr val="E89F71"/>
          </a:solidFill>
          <a:ln w="12700">
            <a:solidFill>
              <a:srgbClr val="E89F71"/>
            </a:solidFill>
            <a:prstDash val="solid"/>
          </a:ln>
        </p:spPr>
      </p:sp>
      <p:sp>
        <p:nvSpPr>
          <p:cNvPr id="3" name="Text 1"/>
          <p:cNvSpPr/>
          <p:nvPr/>
        </p:nvSpPr>
        <p:spPr>
          <a:xfrm>
            <a:off x="941832" y="566928"/>
            <a:ext cx="5486400" cy="320040"/>
          </a:xfrm>
          <a:prstGeom prst="rect">
            <a:avLst/>
          </a:prstGeom>
          <a:noFill/>
          <a:ln/>
        </p:spPr>
        <p:txBody>
          <a:bodyPr wrap="square" lIns="0" tIns="0" rIns="0" bIns="0" rtlCol="0" anchor="ctr"/>
          <a:lstStyle/>
          <a:p>
            <a:pPr indent="0" marL="0">
              <a:buNone/>
            </a:pPr>
            <a:r>
              <a:rPr lang="en-US" sz="1100" b="1" spc="800" kern="0" dirty="0">
                <a:solidFill>
                  <a:srgbClr val="E89F71"/>
                </a:solidFill>
                <a:latin typeface="Calibri" pitchFamily="34" charset="0"/>
                <a:ea typeface="Calibri" pitchFamily="34" charset="-122"/>
                <a:cs typeface="Calibri" pitchFamily="34" charset="-120"/>
              </a:rPr>
              <a:t>STAYING IN PRACTICE  /  01</a:t>
            </a:r>
            <a:endParaRPr lang="en-US" sz="1100" dirty="0"/>
          </a:p>
        </p:txBody>
      </p:sp>
      <p:sp>
        <p:nvSpPr>
          <p:cNvPr id="4" name="Text 2"/>
          <p:cNvSpPr/>
          <p:nvPr/>
        </p:nvSpPr>
        <p:spPr>
          <a:xfrm>
            <a:off x="6629400" y="566928"/>
            <a:ext cx="1828800" cy="320040"/>
          </a:xfrm>
          <a:prstGeom prst="rect">
            <a:avLst/>
          </a:prstGeom>
          <a:noFill/>
          <a:ln/>
        </p:spPr>
        <p:txBody>
          <a:bodyPr wrap="square" lIns="0" tIns="0" rIns="0" bIns="0" rtlCol="0" anchor="ctr"/>
          <a:lstStyle/>
          <a:p>
            <a:pPr algn="r" indent="0" marL="0">
              <a:buNone/>
            </a:pPr>
            <a:r>
              <a:rPr lang="en-US" sz="1100" spc="400" kern="0" dirty="0">
                <a:solidFill>
                  <a:srgbClr val="8A95A8"/>
                </a:solidFill>
                <a:latin typeface="Calibri" pitchFamily="34" charset="0"/>
                <a:ea typeface="Calibri" pitchFamily="34" charset="-122"/>
                <a:cs typeface="Calibri" pitchFamily="34" charset="-120"/>
              </a:rPr>
              <a:t>05 / 08</a:t>
            </a:r>
            <a:endParaRPr lang="en-US" sz="1100" dirty="0"/>
          </a:p>
        </p:txBody>
      </p:sp>
      <p:sp>
        <p:nvSpPr>
          <p:cNvPr id="5" name="Shape 3"/>
          <p:cNvSpPr/>
          <p:nvPr/>
        </p:nvSpPr>
        <p:spPr>
          <a:xfrm>
            <a:off x="685800" y="1024128"/>
            <a:ext cx="7772400" cy="10973"/>
          </a:xfrm>
          <a:prstGeom prst="rect">
            <a:avLst/>
          </a:prstGeom>
          <a:solidFill>
            <a:srgbClr val="2E3445"/>
          </a:solidFill>
          <a:ln w="12700">
            <a:solidFill>
              <a:srgbClr val="2E3445"/>
            </a:solidFill>
            <a:prstDash val="solid"/>
          </a:ln>
        </p:spPr>
      </p:sp>
      <p:sp>
        <p:nvSpPr>
          <p:cNvPr id="6" name="Text 4"/>
          <p:cNvSpPr/>
          <p:nvPr/>
        </p:nvSpPr>
        <p:spPr>
          <a:xfrm>
            <a:off x="685800" y="10789920"/>
            <a:ext cx="3657600" cy="274320"/>
          </a:xfrm>
          <a:prstGeom prst="rect">
            <a:avLst/>
          </a:prstGeom>
          <a:noFill/>
          <a:ln/>
        </p:spPr>
        <p:txBody>
          <a:bodyPr wrap="square" lIns="0" tIns="0" rIns="0" bIns="0" rtlCol="0" anchor="ctr"/>
          <a:lstStyle/>
          <a:p>
            <a:pPr indent="0" marL="0">
              <a:buNone/>
            </a:pPr>
            <a:r>
              <a:rPr lang="en-US" sz="900" b="1" spc="800" kern="0" dirty="0">
                <a:solidFill>
                  <a:srgbClr val="8A95A8"/>
                </a:solidFill>
                <a:latin typeface="Calibri" pitchFamily="34" charset="0"/>
                <a:ea typeface="Calibri" pitchFamily="34" charset="-122"/>
                <a:cs typeface="Calibri" pitchFamily="34" charset="-120"/>
              </a:rPr>
              <a:t>SHIFT WITH PURPOSE</a:t>
            </a:r>
            <a:endParaRPr lang="en-US" sz="900" dirty="0"/>
          </a:p>
        </p:txBody>
      </p:sp>
      <p:sp>
        <p:nvSpPr>
          <p:cNvPr id="7" name="Text 5"/>
          <p:cNvSpPr/>
          <p:nvPr/>
        </p:nvSpPr>
        <p:spPr>
          <a:xfrm>
            <a:off x="4800600" y="10789920"/>
            <a:ext cx="3657600" cy="274320"/>
          </a:xfrm>
          <a:prstGeom prst="rect">
            <a:avLst/>
          </a:prstGeom>
          <a:noFill/>
          <a:ln/>
        </p:spPr>
        <p:txBody>
          <a:bodyPr wrap="square" lIns="0" tIns="0" rIns="0" bIns="0" rtlCol="0" anchor="ctr"/>
          <a:lstStyle/>
          <a:p>
            <a:pPr algn="r" indent="0" marL="0">
              <a:buNone/>
            </a:pPr>
            <a:r>
              <a:rPr lang="en-US" sz="900" spc="600" kern="0" dirty="0">
                <a:solidFill>
                  <a:srgbClr val="8A95A8"/>
                </a:solidFill>
                <a:latin typeface="Calibri" pitchFamily="34" charset="0"/>
                <a:ea typeface="Calibri" pitchFamily="34" charset="-122"/>
                <a:cs typeface="Calibri" pitchFamily="34" charset="-120"/>
              </a:rPr>
              <a:t>CATA BONAVIA</a:t>
            </a:r>
            <a:endParaRPr lang="en-US" sz="900" dirty="0"/>
          </a:p>
        </p:txBody>
      </p:sp>
      <p:sp>
        <p:nvSpPr>
          <p:cNvPr id="8" name="Shape 6"/>
          <p:cNvSpPr/>
          <p:nvPr/>
        </p:nvSpPr>
        <p:spPr>
          <a:xfrm>
            <a:off x="685800" y="10716768"/>
            <a:ext cx="7772400" cy="7315"/>
          </a:xfrm>
          <a:prstGeom prst="rect">
            <a:avLst/>
          </a:prstGeom>
          <a:solidFill>
            <a:srgbClr val="2E3445"/>
          </a:solidFill>
          <a:ln w="12700">
            <a:solidFill>
              <a:srgbClr val="2E3445"/>
            </a:solidFill>
            <a:prstDash val="solid"/>
          </a:ln>
        </p:spPr>
      </p:sp>
      <p:sp>
        <p:nvSpPr>
          <p:cNvPr id="9" name="Shape 7"/>
          <p:cNvSpPr/>
          <p:nvPr/>
        </p:nvSpPr>
        <p:spPr>
          <a:xfrm>
            <a:off x="685800" y="2743200"/>
            <a:ext cx="548640" cy="36576"/>
          </a:xfrm>
          <a:prstGeom prst="rect">
            <a:avLst/>
          </a:prstGeom>
          <a:solidFill>
            <a:srgbClr val="E89F71"/>
          </a:solidFill>
          <a:ln w="12700">
            <a:solidFill>
              <a:srgbClr val="E89F71"/>
            </a:solidFill>
            <a:prstDash val="solid"/>
          </a:ln>
        </p:spPr>
      </p:sp>
      <p:sp>
        <p:nvSpPr>
          <p:cNvPr id="10" name="Text 8"/>
          <p:cNvSpPr/>
          <p:nvPr/>
        </p:nvSpPr>
        <p:spPr>
          <a:xfrm>
            <a:off x="685800" y="2971800"/>
            <a:ext cx="7772400" cy="2011680"/>
          </a:xfrm>
          <a:prstGeom prst="rect">
            <a:avLst/>
          </a:prstGeom>
          <a:noFill/>
          <a:ln/>
        </p:spPr>
        <p:txBody>
          <a:bodyPr wrap="square" rtlCol="0" anchor="t"/>
          <a:lstStyle/>
          <a:p>
            <a:pPr algn="l" indent="0" marL="0">
              <a:lnSpc>
                <a:spcPct val="118000"/>
              </a:lnSpc>
              <a:buNone/>
            </a:pPr>
            <a:r>
              <a:rPr lang="en-US" sz="3400" dirty="0">
                <a:solidFill>
                  <a:srgbClr val="FFFFFF"/>
                </a:solidFill>
                <a:latin typeface="Georgia" pitchFamily="34" charset="0"/>
                <a:ea typeface="Georgia" pitchFamily="34" charset="-122"/>
                <a:cs typeface="Georgia" pitchFamily="34" charset="-120"/>
              </a:rPr>
              <a:t>Staying means knowing your people, not just your org chart.</a:t>
            </a:r>
            <a:endParaRPr lang="en-US" sz="3400" dirty="0"/>
          </a:p>
        </p:txBody>
      </p:sp>
      <p:sp>
        <p:nvSpPr>
          <p:cNvPr id="11" name="Text 9"/>
          <p:cNvSpPr/>
          <p:nvPr/>
        </p:nvSpPr>
        <p:spPr>
          <a:xfrm>
            <a:off x="685800" y="5212080"/>
            <a:ext cx="7772400" cy="3657600"/>
          </a:xfrm>
          <a:prstGeom prst="rect">
            <a:avLst/>
          </a:prstGeom>
          <a:noFill/>
          <a:ln/>
        </p:spPr>
        <p:txBody>
          <a:bodyPr wrap="square" rtlCol="0" anchor="t"/>
          <a:lstStyle/>
          <a:p>
            <a:pPr algn="l" indent="0" marL="0">
              <a:lnSpc>
                <a:spcPct val="150000"/>
              </a:lnSpc>
              <a:buNone/>
            </a:pPr>
            <a:r>
              <a:rPr lang="en-US" sz="1700" dirty="0">
                <a:solidFill>
                  <a:srgbClr val="E8E4DA"/>
                </a:solidFill>
                <a:latin typeface="Calibri" pitchFamily="34" charset="0"/>
                <a:ea typeface="Calibri" pitchFamily="34" charset="-122"/>
                <a:cs typeface="Calibri" pitchFamily="34" charset="-120"/>
              </a:rPr>
              <a:t>When the pressure to ship anything, anything at all, begins to override the reason you started, someone has to hold the experience picture. That someone has spent enough time alongside your team to read what they are actually telling you.</a:t>
            </a:r>
            <a:endParaRPr lang="en-US" sz="1700" dirty="0"/>
          </a:p>
        </p:txBody>
      </p:sp>
      <p:sp>
        <p:nvSpPr>
          <p:cNvPr id="12" name="Text 10"/>
          <p:cNvSpPr/>
          <p:nvPr/>
        </p:nvSpPr>
        <p:spPr>
          <a:xfrm>
            <a:off x="6629400" y="10314432"/>
            <a:ext cx="1828800" cy="274320"/>
          </a:xfrm>
          <a:prstGeom prst="rect">
            <a:avLst/>
          </a:prstGeom>
          <a:noFill/>
          <a:ln/>
        </p:spPr>
        <p:txBody>
          <a:bodyPr wrap="square" lIns="0" tIns="0" rIns="0" bIns="0" rtlCol="0" anchor="ctr"/>
          <a:lstStyle/>
          <a:p>
            <a:pPr algn="r" indent="0" marL="0">
              <a:buNone/>
            </a:pPr>
            <a:r>
              <a:rPr lang="en-US" sz="1100" b="1" spc="600" kern="0" dirty="0">
                <a:solidFill>
                  <a:srgbClr val="E89F71"/>
                </a:solidFill>
                <a:latin typeface="Calibri" pitchFamily="34" charset="0"/>
                <a:ea typeface="Calibri" pitchFamily="34" charset="-122"/>
                <a:cs typeface="Calibri" pitchFamily="34" charset="-120"/>
              </a:rPr>
              <a:t>SWIPE  →</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685800" y="676656"/>
            <a:ext cx="109728" cy="109728"/>
          </a:xfrm>
          <a:prstGeom prst="ellipse">
            <a:avLst/>
          </a:prstGeom>
          <a:solidFill>
            <a:srgbClr val="E89F71"/>
          </a:solidFill>
          <a:ln w="12700">
            <a:solidFill>
              <a:srgbClr val="E89F71"/>
            </a:solidFill>
            <a:prstDash val="solid"/>
          </a:ln>
        </p:spPr>
      </p:sp>
      <p:sp>
        <p:nvSpPr>
          <p:cNvPr id="3" name="Text 1"/>
          <p:cNvSpPr/>
          <p:nvPr/>
        </p:nvSpPr>
        <p:spPr>
          <a:xfrm>
            <a:off x="941832" y="566928"/>
            <a:ext cx="5486400" cy="320040"/>
          </a:xfrm>
          <a:prstGeom prst="rect">
            <a:avLst/>
          </a:prstGeom>
          <a:noFill/>
          <a:ln/>
        </p:spPr>
        <p:txBody>
          <a:bodyPr wrap="square" lIns="0" tIns="0" rIns="0" bIns="0" rtlCol="0" anchor="ctr"/>
          <a:lstStyle/>
          <a:p>
            <a:pPr indent="0" marL="0">
              <a:buNone/>
            </a:pPr>
            <a:r>
              <a:rPr lang="en-US" sz="1100" b="1" spc="800" kern="0" dirty="0">
                <a:solidFill>
                  <a:srgbClr val="E89F71"/>
                </a:solidFill>
                <a:latin typeface="Calibri" pitchFamily="34" charset="0"/>
                <a:ea typeface="Calibri" pitchFamily="34" charset="-122"/>
                <a:cs typeface="Calibri" pitchFamily="34" charset="-120"/>
              </a:rPr>
              <a:t>STAYING IN PRACTICE  /  02</a:t>
            </a:r>
            <a:endParaRPr lang="en-US" sz="1100" dirty="0"/>
          </a:p>
        </p:txBody>
      </p:sp>
      <p:sp>
        <p:nvSpPr>
          <p:cNvPr id="4" name="Text 2"/>
          <p:cNvSpPr/>
          <p:nvPr/>
        </p:nvSpPr>
        <p:spPr>
          <a:xfrm>
            <a:off x="6629400" y="566928"/>
            <a:ext cx="1828800" cy="320040"/>
          </a:xfrm>
          <a:prstGeom prst="rect">
            <a:avLst/>
          </a:prstGeom>
          <a:noFill/>
          <a:ln/>
        </p:spPr>
        <p:txBody>
          <a:bodyPr wrap="square" lIns="0" tIns="0" rIns="0" bIns="0" rtlCol="0" anchor="ctr"/>
          <a:lstStyle/>
          <a:p>
            <a:pPr algn="r" indent="0" marL="0">
              <a:buNone/>
            </a:pPr>
            <a:r>
              <a:rPr lang="en-US" sz="1100" spc="400" kern="0" dirty="0">
                <a:solidFill>
                  <a:srgbClr val="8A95A8"/>
                </a:solidFill>
                <a:latin typeface="Calibri" pitchFamily="34" charset="0"/>
                <a:ea typeface="Calibri" pitchFamily="34" charset="-122"/>
                <a:cs typeface="Calibri" pitchFamily="34" charset="-120"/>
              </a:rPr>
              <a:t>06 / 08</a:t>
            </a:r>
            <a:endParaRPr lang="en-US" sz="1100" dirty="0"/>
          </a:p>
        </p:txBody>
      </p:sp>
      <p:sp>
        <p:nvSpPr>
          <p:cNvPr id="5" name="Shape 3"/>
          <p:cNvSpPr/>
          <p:nvPr/>
        </p:nvSpPr>
        <p:spPr>
          <a:xfrm>
            <a:off x="685800" y="1024128"/>
            <a:ext cx="7772400" cy="10973"/>
          </a:xfrm>
          <a:prstGeom prst="rect">
            <a:avLst/>
          </a:prstGeom>
          <a:solidFill>
            <a:srgbClr val="2E3445"/>
          </a:solidFill>
          <a:ln w="12700">
            <a:solidFill>
              <a:srgbClr val="2E3445"/>
            </a:solidFill>
            <a:prstDash val="solid"/>
          </a:ln>
        </p:spPr>
      </p:sp>
      <p:sp>
        <p:nvSpPr>
          <p:cNvPr id="6" name="Text 4"/>
          <p:cNvSpPr/>
          <p:nvPr/>
        </p:nvSpPr>
        <p:spPr>
          <a:xfrm>
            <a:off x="685800" y="10789920"/>
            <a:ext cx="3657600" cy="274320"/>
          </a:xfrm>
          <a:prstGeom prst="rect">
            <a:avLst/>
          </a:prstGeom>
          <a:noFill/>
          <a:ln/>
        </p:spPr>
        <p:txBody>
          <a:bodyPr wrap="square" lIns="0" tIns="0" rIns="0" bIns="0" rtlCol="0" anchor="ctr"/>
          <a:lstStyle/>
          <a:p>
            <a:pPr indent="0" marL="0">
              <a:buNone/>
            </a:pPr>
            <a:r>
              <a:rPr lang="en-US" sz="900" b="1" spc="800" kern="0" dirty="0">
                <a:solidFill>
                  <a:srgbClr val="8A95A8"/>
                </a:solidFill>
                <a:latin typeface="Calibri" pitchFamily="34" charset="0"/>
                <a:ea typeface="Calibri" pitchFamily="34" charset="-122"/>
                <a:cs typeface="Calibri" pitchFamily="34" charset="-120"/>
              </a:rPr>
              <a:t>SHIFT WITH PURPOSE</a:t>
            </a:r>
            <a:endParaRPr lang="en-US" sz="900" dirty="0"/>
          </a:p>
        </p:txBody>
      </p:sp>
      <p:sp>
        <p:nvSpPr>
          <p:cNvPr id="7" name="Text 5"/>
          <p:cNvSpPr/>
          <p:nvPr/>
        </p:nvSpPr>
        <p:spPr>
          <a:xfrm>
            <a:off x="4800600" y="10789920"/>
            <a:ext cx="3657600" cy="274320"/>
          </a:xfrm>
          <a:prstGeom prst="rect">
            <a:avLst/>
          </a:prstGeom>
          <a:noFill/>
          <a:ln/>
        </p:spPr>
        <p:txBody>
          <a:bodyPr wrap="square" lIns="0" tIns="0" rIns="0" bIns="0" rtlCol="0" anchor="ctr"/>
          <a:lstStyle/>
          <a:p>
            <a:pPr algn="r" indent="0" marL="0">
              <a:buNone/>
            </a:pPr>
            <a:r>
              <a:rPr lang="en-US" sz="900" spc="600" kern="0" dirty="0">
                <a:solidFill>
                  <a:srgbClr val="8A95A8"/>
                </a:solidFill>
                <a:latin typeface="Calibri" pitchFamily="34" charset="0"/>
                <a:ea typeface="Calibri" pitchFamily="34" charset="-122"/>
                <a:cs typeface="Calibri" pitchFamily="34" charset="-120"/>
              </a:rPr>
              <a:t>CATA BONAVIA</a:t>
            </a:r>
            <a:endParaRPr lang="en-US" sz="900" dirty="0"/>
          </a:p>
        </p:txBody>
      </p:sp>
      <p:sp>
        <p:nvSpPr>
          <p:cNvPr id="8" name="Shape 6"/>
          <p:cNvSpPr/>
          <p:nvPr/>
        </p:nvSpPr>
        <p:spPr>
          <a:xfrm>
            <a:off x="685800" y="10716768"/>
            <a:ext cx="7772400" cy="7315"/>
          </a:xfrm>
          <a:prstGeom prst="rect">
            <a:avLst/>
          </a:prstGeom>
          <a:solidFill>
            <a:srgbClr val="2E3445"/>
          </a:solidFill>
          <a:ln w="12700">
            <a:solidFill>
              <a:srgbClr val="2E3445"/>
            </a:solidFill>
            <a:prstDash val="solid"/>
          </a:ln>
        </p:spPr>
      </p:sp>
      <p:sp>
        <p:nvSpPr>
          <p:cNvPr id="9" name="Shape 7"/>
          <p:cNvSpPr/>
          <p:nvPr/>
        </p:nvSpPr>
        <p:spPr>
          <a:xfrm>
            <a:off x="685800" y="2743200"/>
            <a:ext cx="548640" cy="36576"/>
          </a:xfrm>
          <a:prstGeom prst="rect">
            <a:avLst/>
          </a:prstGeom>
          <a:solidFill>
            <a:srgbClr val="E89F71"/>
          </a:solidFill>
          <a:ln w="12700">
            <a:solidFill>
              <a:srgbClr val="E89F71"/>
            </a:solidFill>
            <a:prstDash val="solid"/>
          </a:ln>
        </p:spPr>
      </p:sp>
      <p:sp>
        <p:nvSpPr>
          <p:cNvPr id="10" name="Text 8"/>
          <p:cNvSpPr/>
          <p:nvPr/>
        </p:nvSpPr>
        <p:spPr>
          <a:xfrm>
            <a:off x="685800" y="2971800"/>
            <a:ext cx="7772400" cy="2011680"/>
          </a:xfrm>
          <a:prstGeom prst="rect">
            <a:avLst/>
          </a:prstGeom>
          <a:noFill/>
          <a:ln/>
        </p:spPr>
        <p:txBody>
          <a:bodyPr wrap="square" rtlCol="0" anchor="t"/>
          <a:lstStyle/>
          <a:p>
            <a:pPr algn="l" indent="0" marL="0">
              <a:lnSpc>
                <a:spcPct val="118000"/>
              </a:lnSpc>
              <a:buNone/>
            </a:pPr>
            <a:r>
              <a:rPr lang="en-US" sz="3400" dirty="0">
                <a:solidFill>
                  <a:srgbClr val="FFFFFF"/>
                </a:solidFill>
                <a:latin typeface="Georgia" pitchFamily="34" charset="0"/>
                <a:ea typeface="Georgia" pitchFamily="34" charset="-122"/>
                <a:cs typeface="Georgia" pitchFamily="34" charset="-120"/>
              </a:rPr>
              <a:t>Staying means seeing options where the room sees walls.</a:t>
            </a:r>
            <a:endParaRPr lang="en-US" sz="3400" dirty="0"/>
          </a:p>
        </p:txBody>
      </p:sp>
      <p:sp>
        <p:nvSpPr>
          <p:cNvPr id="11" name="Text 9"/>
          <p:cNvSpPr/>
          <p:nvPr/>
        </p:nvSpPr>
        <p:spPr>
          <a:xfrm>
            <a:off x="685800" y="5212080"/>
            <a:ext cx="7772400" cy="3657600"/>
          </a:xfrm>
          <a:prstGeom prst="rect">
            <a:avLst/>
          </a:prstGeom>
          <a:noFill/>
          <a:ln/>
        </p:spPr>
        <p:txBody>
          <a:bodyPr wrap="square" rtlCol="0" anchor="t"/>
          <a:lstStyle/>
          <a:p>
            <a:pPr algn="l" indent="0" marL="0">
              <a:lnSpc>
                <a:spcPct val="150000"/>
              </a:lnSpc>
              <a:buNone/>
            </a:pPr>
            <a:r>
              <a:rPr lang="en-US" sz="1700" dirty="0">
                <a:solidFill>
                  <a:srgbClr val="E8E4DA"/>
                </a:solidFill>
                <a:latin typeface="Calibri" pitchFamily="34" charset="0"/>
                <a:ea typeface="Calibri" pitchFamily="34" charset="-122"/>
                <a:cs typeface="Calibri" pitchFamily="34" charset="-120"/>
              </a:rPr>
              <a:t>Curiosity does not switch off when implementation gets hard; it switches on. Where others see blocks, I see the next move, because design thinking is a posture, not a workshop.</a:t>
            </a:r>
            <a:endParaRPr lang="en-US" sz="1700" dirty="0"/>
          </a:p>
        </p:txBody>
      </p:sp>
      <p:sp>
        <p:nvSpPr>
          <p:cNvPr id="12" name="Text 10"/>
          <p:cNvSpPr/>
          <p:nvPr/>
        </p:nvSpPr>
        <p:spPr>
          <a:xfrm>
            <a:off x="6629400" y="10314432"/>
            <a:ext cx="1828800" cy="274320"/>
          </a:xfrm>
          <a:prstGeom prst="rect">
            <a:avLst/>
          </a:prstGeom>
          <a:noFill/>
          <a:ln/>
        </p:spPr>
        <p:txBody>
          <a:bodyPr wrap="square" lIns="0" tIns="0" rIns="0" bIns="0" rtlCol="0" anchor="ctr"/>
          <a:lstStyle/>
          <a:p>
            <a:pPr algn="r" indent="0" marL="0">
              <a:buNone/>
            </a:pPr>
            <a:r>
              <a:rPr lang="en-US" sz="1100" b="1" spc="600" kern="0" dirty="0">
                <a:solidFill>
                  <a:srgbClr val="E89F71"/>
                </a:solidFill>
                <a:latin typeface="Calibri" pitchFamily="34" charset="0"/>
                <a:ea typeface="Calibri" pitchFamily="34" charset="-122"/>
                <a:cs typeface="Calibri" pitchFamily="34" charset="-120"/>
              </a:rPr>
              <a:t>SWIPE  →</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685800" y="676656"/>
            <a:ext cx="109728" cy="109728"/>
          </a:xfrm>
          <a:prstGeom prst="ellipse">
            <a:avLst/>
          </a:prstGeom>
          <a:solidFill>
            <a:srgbClr val="E89F71"/>
          </a:solidFill>
          <a:ln w="12700">
            <a:solidFill>
              <a:srgbClr val="E89F71"/>
            </a:solidFill>
            <a:prstDash val="solid"/>
          </a:ln>
        </p:spPr>
      </p:sp>
      <p:sp>
        <p:nvSpPr>
          <p:cNvPr id="3" name="Text 1"/>
          <p:cNvSpPr/>
          <p:nvPr/>
        </p:nvSpPr>
        <p:spPr>
          <a:xfrm>
            <a:off x="941832" y="566928"/>
            <a:ext cx="5486400" cy="320040"/>
          </a:xfrm>
          <a:prstGeom prst="rect">
            <a:avLst/>
          </a:prstGeom>
          <a:noFill/>
          <a:ln/>
        </p:spPr>
        <p:txBody>
          <a:bodyPr wrap="square" lIns="0" tIns="0" rIns="0" bIns="0" rtlCol="0" anchor="ctr"/>
          <a:lstStyle/>
          <a:p>
            <a:pPr indent="0" marL="0">
              <a:buNone/>
            </a:pPr>
            <a:r>
              <a:rPr lang="en-US" sz="1100" b="1" spc="800" kern="0" dirty="0">
                <a:solidFill>
                  <a:srgbClr val="E89F71"/>
                </a:solidFill>
                <a:latin typeface="Calibri" pitchFamily="34" charset="0"/>
                <a:ea typeface="Calibri" pitchFamily="34" charset="-122"/>
                <a:cs typeface="Calibri" pitchFamily="34" charset="-120"/>
              </a:rPr>
              <a:t>STAYING IN PRACTICE  /  03</a:t>
            </a:r>
            <a:endParaRPr lang="en-US" sz="1100" dirty="0"/>
          </a:p>
        </p:txBody>
      </p:sp>
      <p:sp>
        <p:nvSpPr>
          <p:cNvPr id="4" name="Text 2"/>
          <p:cNvSpPr/>
          <p:nvPr/>
        </p:nvSpPr>
        <p:spPr>
          <a:xfrm>
            <a:off x="6629400" y="566928"/>
            <a:ext cx="1828800" cy="320040"/>
          </a:xfrm>
          <a:prstGeom prst="rect">
            <a:avLst/>
          </a:prstGeom>
          <a:noFill/>
          <a:ln/>
        </p:spPr>
        <p:txBody>
          <a:bodyPr wrap="square" lIns="0" tIns="0" rIns="0" bIns="0" rtlCol="0" anchor="ctr"/>
          <a:lstStyle/>
          <a:p>
            <a:pPr algn="r" indent="0" marL="0">
              <a:buNone/>
            </a:pPr>
            <a:r>
              <a:rPr lang="en-US" sz="1100" spc="400" kern="0" dirty="0">
                <a:solidFill>
                  <a:srgbClr val="8A95A8"/>
                </a:solidFill>
                <a:latin typeface="Calibri" pitchFamily="34" charset="0"/>
                <a:ea typeface="Calibri" pitchFamily="34" charset="-122"/>
                <a:cs typeface="Calibri" pitchFamily="34" charset="-120"/>
              </a:rPr>
              <a:t>07 / 08</a:t>
            </a:r>
            <a:endParaRPr lang="en-US" sz="1100" dirty="0"/>
          </a:p>
        </p:txBody>
      </p:sp>
      <p:sp>
        <p:nvSpPr>
          <p:cNvPr id="5" name="Shape 3"/>
          <p:cNvSpPr/>
          <p:nvPr/>
        </p:nvSpPr>
        <p:spPr>
          <a:xfrm>
            <a:off x="685800" y="1024128"/>
            <a:ext cx="7772400" cy="10973"/>
          </a:xfrm>
          <a:prstGeom prst="rect">
            <a:avLst/>
          </a:prstGeom>
          <a:solidFill>
            <a:srgbClr val="2E3445"/>
          </a:solidFill>
          <a:ln w="12700">
            <a:solidFill>
              <a:srgbClr val="2E3445"/>
            </a:solidFill>
            <a:prstDash val="solid"/>
          </a:ln>
        </p:spPr>
      </p:sp>
      <p:sp>
        <p:nvSpPr>
          <p:cNvPr id="6" name="Text 4"/>
          <p:cNvSpPr/>
          <p:nvPr/>
        </p:nvSpPr>
        <p:spPr>
          <a:xfrm>
            <a:off x="685800" y="10789920"/>
            <a:ext cx="3657600" cy="274320"/>
          </a:xfrm>
          <a:prstGeom prst="rect">
            <a:avLst/>
          </a:prstGeom>
          <a:noFill/>
          <a:ln/>
        </p:spPr>
        <p:txBody>
          <a:bodyPr wrap="square" lIns="0" tIns="0" rIns="0" bIns="0" rtlCol="0" anchor="ctr"/>
          <a:lstStyle/>
          <a:p>
            <a:pPr indent="0" marL="0">
              <a:buNone/>
            </a:pPr>
            <a:r>
              <a:rPr lang="en-US" sz="900" b="1" spc="800" kern="0" dirty="0">
                <a:solidFill>
                  <a:srgbClr val="8A95A8"/>
                </a:solidFill>
                <a:latin typeface="Calibri" pitchFamily="34" charset="0"/>
                <a:ea typeface="Calibri" pitchFamily="34" charset="-122"/>
                <a:cs typeface="Calibri" pitchFamily="34" charset="-120"/>
              </a:rPr>
              <a:t>SHIFT WITH PURPOSE</a:t>
            </a:r>
            <a:endParaRPr lang="en-US" sz="900" dirty="0"/>
          </a:p>
        </p:txBody>
      </p:sp>
      <p:sp>
        <p:nvSpPr>
          <p:cNvPr id="7" name="Text 5"/>
          <p:cNvSpPr/>
          <p:nvPr/>
        </p:nvSpPr>
        <p:spPr>
          <a:xfrm>
            <a:off x="4800600" y="10789920"/>
            <a:ext cx="3657600" cy="274320"/>
          </a:xfrm>
          <a:prstGeom prst="rect">
            <a:avLst/>
          </a:prstGeom>
          <a:noFill/>
          <a:ln/>
        </p:spPr>
        <p:txBody>
          <a:bodyPr wrap="square" lIns="0" tIns="0" rIns="0" bIns="0" rtlCol="0" anchor="ctr"/>
          <a:lstStyle/>
          <a:p>
            <a:pPr algn="r" indent="0" marL="0">
              <a:buNone/>
            </a:pPr>
            <a:r>
              <a:rPr lang="en-US" sz="900" spc="600" kern="0" dirty="0">
                <a:solidFill>
                  <a:srgbClr val="8A95A8"/>
                </a:solidFill>
                <a:latin typeface="Calibri" pitchFamily="34" charset="0"/>
                <a:ea typeface="Calibri" pitchFamily="34" charset="-122"/>
                <a:cs typeface="Calibri" pitchFamily="34" charset="-120"/>
              </a:rPr>
              <a:t>CATA BONAVIA</a:t>
            </a:r>
            <a:endParaRPr lang="en-US" sz="900" dirty="0"/>
          </a:p>
        </p:txBody>
      </p:sp>
      <p:sp>
        <p:nvSpPr>
          <p:cNvPr id="8" name="Shape 6"/>
          <p:cNvSpPr/>
          <p:nvPr/>
        </p:nvSpPr>
        <p:spPr>
          <a:xfrm>
            <a:off x="685800" y="10716768"/>
            <a:ext cx="7772400" cy="7315"/>
          </a:xfrm>
          <a:prstGeom prst="rect">
            <a:avLst/>
          </a:prstGeom>
          <a:solidFill>
            <a:srgbClr val="2E3445"/>
          </a:solidFill>
          <a:ln w="12700">
            <a:solidFill>
              <a:srgbClr val="2E3445"/>
            </a:solidFill>
            <a:prstDash val="solid"/>
          </a:ln>
        </p:spPr>
      </p:sp>
      <p:sp>
        <p:nvSpPr>
          <p:cNvPr id="9" name="Shape 7"/>
          <p:cNvSpPr/>
          <p:nvPr/>
        </p:nvSpPr>
        <p:spPr>
          <a:xfrm>
            <a:off x="685800" y="2743200"/>
            <a:ext cx="548640" cy="36576"/>
          </a:xfrm>
          <a:prstGeom prst="rect">
            <a:avLst/>
          </a:prstGeom>
          <a:solidFill>
            <a:srgbClr val="E89F71"/>
          </a:solidFill>
          <a:ln w="12700">
            <a:solidFill>
              <a:srgbClr val="E89F71"/>
            </a:solidFill>
            <a:prstDash val="solid"/>
          </a:ln>
        </p:spPr>
      </p:sp>
      <p:sp>
        <p:nvSpPr>
          <p:cNvPr id="10" name="Text 8"/>
          <p:cNvSpPr/>
          <p:nvPr/>
        </p:nvSpPr>
        <p:spPr>
          <a:xfrm>
            <a:off x="685800" y="2971800"/>
            <a:ext cx="7772400" cy="2011680"/>
          </a:xfrm>
          <a:prstGeom prst="rect">
            <a:avLst/>
          </a:prstGeom>
          <a:noFill/>
          <a:ln/>
        </p:spPr>
        <p:txBody>
          <a:bodyPr wrap="square" rtlCol="0" anchor="t"/>
          <a:lstStyle/>
          <a:p>
            <a:pPr algn="l" indent="0" marL="0">
              <a:lnSpc>
                <a:spcPct val="118000"/>
              </a:lnSpc>
              <a:buNone/>
            </a:pPr>
            <a:r>
              <a:rPr lang="en-US" sz="3400" dirty="0">
                <a:solidFill>
                  <a:srgbClr val="FFFFFF"/>
                </a:solidFill>
                <a:latin typeface="Georgia" pitchFamily="34" charset="0"/>
                <a:ea typeface="Georgia" pitchFamily="34" charset="-122"/>
                <a:cs typeface="Georgia" pitchFamily="34" charset="-120"/>
              </a:rPr>
              <a:t>Staying means making the strategy actually run.</a:t>
            </a:r>
            <a:endParaRPr lang="en-US" sz="3400" dirty="0"/>
          </a:p>
        </p:txBody>
      </p:sp>
      <p:sp>
        <p:nvSpPr>
          <p:cNvPr id="11" name="Text 9"/>
          <p:cNvSpPr/>
          <p:nvPr/>
        </p:nvSpPr>
        <p:spPr>
          <a:xfrm>
            <a:off x="685800" y="5212080"/>
            <a:ext cx="7772400" cy="3657600"/>
          </a:xfrm>
          <a:prstGeom prst="rect">
            <a:avLst/>
          </a:prstGeom>
          <a:noFill/>
          <a:ln/>
        </p:spPr>
        <p:txBody>
          <a:bodyPr wrap="square" rtlCol="0" anchor="t"/>
          <a:lstStyle/>
          <a:p>
            <a:pPr algn="l" indent="0" marL="0">
              <a:lnSpc>
                <a:spcPct val="150000"/>
              </a:lnSpc>
              <a:buNone/>
            </a:pPr>
            <a:r>
              <a:rPr lang="en-US" sz="1700" dirty="0">
                <a:solidFill>
                  <a:srgbClr val="E8E4DA"/>
                </a:solidFill>
                <a:latin typeface="Calibri" pitchFamily="34" charset="0"/>
                <a:ea typeface="Calibri" pitchFamily="34" charset="-122"/>
                <a:cs typeface="Calibri" pitchFamily="34" charset="-120"/>
              </a:rPr>
              <a:t>Systems, process and change are how I think. So the plan we build together does not live in a deck; it lives in workflows, in conversations, in the way your team gets through Tuesday.</a:t>
            </a:r>
            <a:endParaRPr lang="en-US" sz="1700" dirty="0"/>
          </a:p>
        </p:txBody>
      </p:sp>
      <p:sp>
        <p:nvSpPr>
          <p:cNvPr id="12" name="Text 10"/>
          <p:cNvSpPr/>
          <p:nvPr/>
        </p:nvSpPr>
        <p:spPr>
          <a:xfrm>
            <a:off x="6629400" y="10314432"/>
            <a:ext cx="1828800" cy="274320"/>
          </a:xfrm>
          <a:prstGeom prst="rect">
            <a:avLst/>
          </a:prstGeom>
          <a:noFill/>
          <a:ln/>
        </p:spPr>
        <p:txBody>
          <a:bodyPr wrap="square" lIns="0" tIns="0" rIns="0" bIns="0" rtlCol="0" anchor="ctr"/>
          <a:lstStyle/>
          <a:p>
            <a:pPr algn="r" indent="0" marL="0">
              <a:buNone/>
            </a:pPr>
            <a:r>
              <a:rPr lang="en-US" sz="1100" b="1" spc="600" kern="0" dirty="0">
                <a:solidFill>
                  <a:srgbClr val="E89F71"/>
                </a:solidFill>
                <a:latin typeface="Calibri" pitchFamily="34" charset="0"/>
                <a:ea typeface="Calibri" pitchFamily="34" charset="-122"/>
                <a:cs typeface="Calibri" pitchFamily="34" charset="-120"/>
              </a:rPr>
              <a:t>SWIPE  →</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685800" y="676656"/>
            <a:ext cx="109728" cy="109728"/>
          </a:xfrm>
          <a:prstGeom prst="ellipse">
            <a:avLst/>
          </a:prstGeom>
          <a:solidFill>
            <a:srgbClr val="E89F71"/>
          </a:solidFill>
          <a:ln w="12700">
            <a:solidFill>
              <a:srgbClr val="E89F71"/>
            </a:solidFill>
            <a:prstDash val="solid"/>
          </a:ln>
        </p:spPr>
      </p:sp>
      <p:sp>
        <p:nvSpPr>
          <p:cNvPr id="3" name="Text 1"/>
          <p:cNvSpPr/>
          <p:nvPr/>
        </p:nvSpPr>
        <p:spPr>
          <a:xfrm>
            <a:off x="941832" y="566928"/>
            <a:ext cx="5486400" cy="320040"/>
          </a:xfrm>
          <a:prstGeom prst="rect">
            <a:avLst/>
          </a:prstGeom>
          <a:noFill/>
          <a:ln/>
        </p:spPr>
        <p:txBody>
          <a:bodyPr wrap="square" lIns="0" tIns="0" rIns="0" bIns="0" rtlCol="0" anchor="ctr"/>
          <a:lstStyle/>
          <a:p>
            <a:pPr indent="0" marL="0">
              <a:buNone/>
            </a:pPr>
            <a:r>
              <a:rPr lang="en-US" sz="1100" b="1" spc="800" kern="0" dirty="0">
                <a:solidFill>
                  <a:srgbClr val="E89F71"/>
                </a:solidFill>
                <a:latin typeface="Calibri" pitchFamily="34" charset="0"/>
                <a:ea typeface="Calibri" pitchFamily="34" charset="-122"/>
                <a:cs typeface="Calibri" pitchFamily="34" charset="-120"/>
              </a:rPr>
              <a:t>THE TAKEAWAY</a:t>
            </a:r>
            <a:endParaRPr lang="en-US" sz="1100" dirty="0"/>
          </a:p>
        </p:txBody>
      </p:sp>
      <p:sp>
        <p:nvSpPr>
          <p:cNvPr id="4" name="Text 2"/>
          <p:cNvSpPr/>
          <p:nvPr/>
        </p:nvSpPr>
        <p:spPr>
          <a:xfrm>
            <a:off x="6629400" y="566928"/>
            <a:ext cx="1828800" cy="320040"/>
          </a:xfrm>
          <a:prstGeom prst="rect">
            <a:avLst/>
          </a:prstGeom>
          <a:noFill/>
          <a:ln/>
        </p:spPr>
        <p:txBody>
          <a:bodyPr wrap="square" lIns="0" tIns="0" rIns="0" bIns="0" rtlCol="0" anchor="ctr"/>
          <a:lstStyle/>
          <a:p>
            <a:pPr algn="r" indent="0" marL="0">
              <a:buNone/>
            </a:pPr>
            <a:r>
              <a:rPr lang="en-US" sz="1100" spc="400" kern="0" dirty="0">
                <a:solidFill>
                  <a:srgbClr val="8A95A8"/>
                </a:solidFill>
                <a:latin typeface="Calibri" pitchFamily="34" charset="0"/>
                <a:ea typeface="Calibri" pitchFamily="34" charset="-122"/>
                <a:cs typeface="Calibri" pitchFamily="34" charset="-120"/>
              </a:rPr>
              <a:t>08 / 08</a:t>
            </a:r>
            <a:endParaRPr lang="en-US" sz="1100" dirty="0"/>
          </a:p>
        </p:txBody>
      </p:sp>
      <p:sp>
        <p:nvSpPr>
          <p:cNvPr id="5" name="Shape 3"/>
          <p:cNvSpPr/>
          <p:nvPr/>
        </p:nvSpPr>
        <p:spPr>
          <a:xfrm>
            <a:off x="685800" y="1024128"/>
            <a:ext cx="7772400" cy="10973"/>
          </a:xfrm>
          <a:prstGeom prst="rect">
            <a:avLst/>
          </a:prstGeom>
          <a:solidFill>
            <a:srgbClr val="2E3445"/>
          </a:solidFill>
          <a:ln w="12700">
            <a:solidFill>
              <a:srgbClr val="2E3445"/>
            </a:solidFill>
            <a:prstDash val="solid"/>
          </a:ln>
        </p:spPr>
      </p:sp>
      <p:sp>
        <p:nvSpPr>
          <p:cNvPr id="6" name="Text 4"/>
          <p:cNvSpPr/>
          <p:nvPr/>
        </p:nvSpPr>
        <p:spPr>
          <a:xfrm>
            <a:off x="685800" y="10789920"/>
            <a:ext cx="3657600" cy="274320"/>
          </a:xfrm>
          <a:prstGeom prst="rect">
            <a:avLst/>
          </a:prstGeom>
          <a:noFill/>
          <a:ln/>
        </p:spPr>
        <p:txBody>
          <a:bodyPr wrap="square" lIns="0" tIns="0" rIns="0" bIns="0" rtlCol="0" anchor="ctr"/>
          <a:lstStyle/>
          <a:p>
            <a:pPr indent="0" marL="0">
              <a:buNone/>
            </a:pPr>
            <a:r>
              <a:rPr lang="en-US" sz="900" b="1" spc="800" kern="0" dirty="0">
                <a:solidFill>
                  <a:srgbClr val="8A95A8"/>
                </a:solidFill>
                <a:latin typeface="Calibri" pitchFamily="34" charset="0"/>
                <a:ea typeface="Calibri" pitchFamily="34" charset="-122"/>
                <a:cs typeface="Calibri" pitchFamily="34" charset="-120"/>
              </a:rPr>
              <a:t>SHIFT WITH PURPOSE</a:t>
            </a:r>
            <a:endParaRPr lang="en-US" sz="900" dirty="0"/>
          </a:p>
        </p:txBody>
      </p:sp>
      <p:sp>
        <p:nvSpPr>
          <p:cNvPr id="7" name="Text 5"/>
          <p:cNvSpPr/>
          <p:nvPr/>
        </p:nvSpPr>
        <p:spPr>
          <a:xfrm>
            <a:off x="4800600" y="10789920"/>
            <a:ext cx="3657600" cy="274320"/>
          </a:xfrm>
          <a:prstGeom prst="rect">
            <a:avLst/>
          </a:prstGeom>
          <a:noFill/>
          <a:ln/>
        </p:spPr>
        <p:txBody>
          <a:bodyPr wrap="square" lIns="0" tIns="0" rIns="0" bIns="0" rtlCol="0" anchor="ctr"/>
          <a:lstStyle/>
          <a:p>
            <a:pPr algn="r" indent="0" marL="0">
              <a:buNone/>
            </a:pPr>
            <a:r>
              <a:rPr lang="en-US" sz="900" spc="600" kern="0" dirty="0">
                <a:solidFill>
                  <a:srgbClr val="8A95A8"/>
                </a:solidFill>
                <a:latin typeface="Calibri" pitchFamily="34" charset="0"/>
                <a:ea typeface="Calibri" pitchFamily="34" charset="-122"/>
                <a:cs typeface="Calibri" pitchFamily="34" charset="-120"/>
              </a:rPr>
              <a:t>CATA BONAVIA</a:t>
            </a:r>
            <a:endParaRPr lang="en-US" sz="900" dirty="0"/>
          </a:p>
        </p:txBody>
      </p:sp>
      <p:sp>
        <p:nvSpPr>
          <p:cNvPr id="8" name="Shape 6"/>
          <p:cNvSpPr/>
          <p:nvPr/>
        </p:nvSpPr>
        <p:spPr>
          <a:xfrm>
            <a:off x="685800" y="10716768"/>
            <a:ext cx="7772400" cy="7315"/>
          </a:xfrm>
          <a:prstGeom prst="rect">
            <a:avLst/>
          </a:prstGeom>
          <a:solidFill>
            <a:srgbClr val="2E3445"/>
          </a:solidFill>
          <a:ln w="12700">
            <a:solidFill>
              <a:srgbClr val="2E3445"/>
            </a:solidFill>
            <a:prstDash val="solid"/>
          </a:ln>
        </p:spPr>
      </p:sp>
      <p:sp>
        <p:nvSpPr>
          <p:cNvPr id="9" name="Shape 7"/>
          <p:cNvSpPr/>
          <p:nvPr/>
        </p:nvSpPr>
        <p:spPr>
          <a:xfrm>
            <a:off x="685800" y="2743200"/>
            <a:ext cx="548640" cy="36576"/>
          </a:xfrm>
          <a:prstGeom prst="rect">
            <a:avLst/>
          </a:prstGeom>
          <a:solidFill>
            <a:srgbClr val="E89F71"/>
          </a:solidFill>
          <a:ln w="12700">
            <a:solidFill>
              <a:srgbClr val="E89F71"/>
            </a:solidFill>
            <a:prstDash val="solid"/>
          </a:ln>
        </p:spPr>
      </p:sp>
      <p:sp>
        <p:nvSpPr>
          <p:cNvPr id="10" name="Text 8"/>
          <p:cNvSpPr/>
          <p:nvPr/>
        </p:nvSpPr>
        <p:spPr>
          <a:xfrm>
            <a:off x="685800" y="2971800"/>
            <a:ext cx="7772400" cy="2743200"/>
          </a:xfrm>
          <a:prstGeom prst="rect">
            <a:avLst/>
          </a:prstGeom>
          <a:noFill/>
          <a:ln/>
        </p:spPr>
        <p:txBody>
          <a:bodyPr wrap="square" rtlCol="0" anchor="t"/>
          <a:lstStyle/>
          <a:p>
            <a:pPr algn="l" indent="0" marL="0">
              <a:lnSpc>
                <a:spcPct val="118000"/>
              </a:lnSpc>
              <a:buNone/>
            </a:pPr>
            <a:r>
              <a:rPr lang="en-US" sz="3400" dirty="0">
                <a:solidFill>
                  <a:srgbClr val="FFFFFF"/>
                </a:solidFill>
                <a:latin typeface="Georgia" pitchFamily="34" charset="0"/>
                <a:ea typeface="Georgia" pitchFamily="34" charset="-122"/>
                <a:cs typeface="Georgia" pitchFamily="34" charset="-120"/>
              </a:rPr>
              <a:t>Real returns come from staying, not from strategy decks.</a:t>
            </a:r>
            <a:endParaRPr lang="en-US" sz="3400" dirty="0"/>
          </a:p>
        </p:txBody>
      </p:sp>
      <p:sp>
        <p:nvSpPr>
          <p:cNvPr id="11" name="Text 9"/>
          <p:cNvSpPr/>
          <p:nvPr/>
        </p:nvSpPr>
        <p:spPr>
          <a:xfrm>
            <a:off x="685800" y="5212080"/>
            <a:ext cx="7772400" cy="2560320"/>
          </a:xfrm>
          <a:prstGeom prst="rect">
            <a:avLst/>
          </a:prstGeom>
          <a:noFill/>
          <a:ln/>
        </p:spPr>
        <p:txBody>
          <a:bodyPr wrap="square" rtlCol="0" anchor="t"/>
          <a:lstStyle/>
          <a:p>
            <a:pPr algn="l" indent="0" marL="0">
              <a:lnSpc>
                <a:spcPct val="150000"/>
              </a:lnSpc>
              <a:buNone/>
            </a:pPr>
            <a:r>
              <a:rPr lang="en-US" sz="1700" dirty="0">
                <a:solidFill>
                  <a:srgbClr val="E8E4DA"/>
                </a:solidFill>
                <a:latin typeface="Calibri" pitchFamily="34" charset="0"/>
                <a:ea typeface="Calibri" pitchFamily="34" charset="-122"/>
                <a:cs typeface="Calibri" pitchFamily="34" charset="-120"/>
              </a:rPr>
              <a:t>The organisations getting compound results from transformation aren't the ones with the prettiest plans. They're the ones who had a partner in the room for the hard part.</a:t>
            </a:r>
            <a:endParaRPr lang="en-US" sz="1700" dirty="0"/>
          </a:p>
        </p:txBody>
      </p:sp>
      <p:sp>
        <p:nvSpPr>
          <p:cNvPr id="12" name="Shape 10"/>
          <p:cNvSpPr/>
          <p:nvPr/>
        </p:nvSpPr>
        <p:spPr>
          <a:xfrm>
            <a:off x="685800" y="8503920"/>
            <a:ext cx="7772400" cy="1828800"/>
          </a:xfrm>
          <a:prstGeom prst="rect">
            <a:avLst/>
          </a:prstGeom>
          <a:solidFill>
            <a:srgbClr val="E89F71"/>
          </a:solidFill>
          <a:ln w="12700">
            <a:solidFill>
              <a:srgbClr val="E89F71"/>
            </a:solidFill>
            <a:prstDash val="solid"/>
          </a:ln>
        </p:spPr>
      </p:sp>
      <p:sp>
        <p:nvSpPr>
          <p:cNvPr id="13" name="Text 11"/>
          <p:cNvSpPr/>
          <p:nvPr/>
        </p:nvSpPr>
        <p:spPr>
          <a:xfrm>
            <a:off x="1051560" y="8686800"/>
            <a:ext cx="7040880" cy="914400"/>
          </a:xfrm>
          <a:prstGeom prst="rect">
            <a:avLst/>
          </a:prstGeom>
          <a:noFill/>
          <a:ln/>
        </p:spPr>
        <p:txBody>
          <a:bodyPr wrap="square" rtlCol="0" anchor="ctr"/>
          <a:lstStyle/>
          <a:p>
            <a:pPr algn="l" indent="0" marL="0">
              <a:lnSpc>
                <a:spcPct val="125000"/>
              </a:lnSpc>
              <a:buNone/>
            </a:pPr>
            <a:r>
              <a:rPr lang="en-US" sz="1900" dirty="0">
                <a:solidFill>
                  <a:srgbClr val="1A1F2E"/>
                </a:solidFill>
                <a:latin typeface="Georgia" pitchFamily="34" charset="0"/>
                <a:ea typeface="Georgia" pitchFamily="34" charset="-122"/>
                <a:cs typeface="Georgia" pitchFamily="34" charset="-120"/>
              </a:rPr>
              <a:t>Planning a transformation and want a partner who stays for all of it?</a:t>
            </a:r>
            <a:endParaRPr lang="en-US" sz="1900" dirty="0"/>
          </a:p>
        </p:txBody>
      </p:sp>
      <p:sp>
        <p:nvSpPr>
          <p:cNvPr id="14" name="Text 12"/>
          <p:cNvSpPr/>
          <p:nvPr/>
        </p:nvSpPr>
        <p:spPr>
          <a:xfrm>
            <a:off x="1051560" y="9646920"/>
            <a:ext cx="7040880" cy="548640"/>
          </a:xfrm>
          <a:prstGeom prst="rect">
            <a:avLst/>
          </a:prstGeom>
          <a:noFill/>
          <a:ln/>
        </p:spPr>
        <p:txBody>
          <a:bodyPr wrap="square" rtlCol="0" anchor="ctr"/>
          <a:lstStyle/>
          <a:p>
            <a:pPr algn="l" indent="0" marL="0">
              <a:buNone/>
            </a:pPr>
            <a:r>
              <a:rPr lang="en-US" sz="1400" b="1" spc="400" kern="0" dirty="0">
                <a:solidFill>
                  <a:srgbClr val="1A1F2E"/>
                </a:solidFill>
                <a:latin typeface="Calibri" pitchFamily="34" charset="0"/>
                <a:ea typeface="Calibri" pitchFamily="34" charset="-122"/>
                <a:cs typeface="Calibri" pitchFamily="34" charset="-120"/>
              </a:rPr>
              <a:t>shiftwithpurpose.com.au   →</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transformation partner should still be in the room</dc:title>
  <dc:subject>PptxGenJS Presentation</dc:subject>
  <dc:creator>Cata Bonavia - SHiFT with Purpose</dc:creator>
  <cp:lastModifiedBy>Cata Bonavia - SHiFT with Purpose</cp:lastModifiedBy>
  <cp:revision>1</cp:revision>
  <dcterms:created xsi:type="dcterms:W3CDTF">2026-05-14T21:40:09Z</dcterms:created>
  <dcterms:modified xsi:type="dcterms:W3CDTF">2026-05-14T21:40:09Z</dcterms:modified>
</cp:coreProperties>
</file>